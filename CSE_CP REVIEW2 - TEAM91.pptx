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 id="2147483672" r:id="rId4"/>
  </p:sldMasterIdLst>
  <p:notesMasterIdLst>
    <p:notesMasterId r:id="rId27"/>
  </p:notesMasterIdLst>
  <p:sldIdLst>
    <p:sldId id="266" r:id="rId5"/>
    <p:sldId id="267" r:id="rId6"/>
    <p:sldId id="277" r:id="rId7"/>
    <p:sldId id="279" r:id="rId8"/>
    <p:sldId id="285" r:id="rId9"/>
    <p:sldId id="289" r:id="rId10"/>
    <p:sldId id="307" r:id="rId11"/>
    <p:sldId id="300" r:id="rId12"/>
    <p:sldId id="311" r:id="rId13"/>
    <p:sldId id="312" r:id="rId14"/>
    <p:sldId id="308" r:id="rId15"/>
    <p:sldId id="291" r:id="rId16"/>
    <p:sldId id="313" r:id="rId17"/>
    <p:sldId id="315" r:id="rId18"/>
    <p:sldId id="316" r:id="rId19"/>
    <p:sldId id="317" r:id="rId20"/>
    <p:sldId id="319" r:id="rId21"/>
    <p:sldId id="309" r:id="rId22"/>
    <p:sldId id="287" r:id="rId23"/>
    <p:sldId id="310" r:id="rId24"/>
    <p:sldId id="270" r:id="rId25"/>
    <p:sldId id="314" r:id="rId2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38"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226"/>
    <p:restoredTop sz="94660"/>
  </p:normalViewPr>
  <p:slideViewPr>
    <p:cSldViewPr showGuides="1">
      <p:cViewPr varScale="1">
        <p:scale>
          <a:sx n="68" d="100"/>
          <a:sy n="68" d="100"/>
        </p:scale>
        <p:origin x="1296" y="96"/>
      </p:cViewPr>
      <p:guideLst>
        <p:guide orient="horz" pos="2138"/>
        <p:guide pos="285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9A6941D5-6402-4E2B-8BB5-B5012F09408D}"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D1623C9-82BB-4282-9428-FD3EE0A89EAA}" type="slidenum">
              <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8F5295E-D3E4-436E-9467-D4DE45B4F21A}"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666E1B-4D8C-47E8-B814-1A0FADC0433B}"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FB3E8E5-FEFA-4D8A-A170-3A35AEAEB65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A4D1C15-472A-4B0B-99BA-BBDF0D11817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0450ACB-BD95-431F-A993-D58406483F1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A587351-5CFD-4FC1-98BD-46380EF9BF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a:xfrm>
            <a:off x="239713" y="747713"/>
            <a:ext cx="8580437" cy="1457325"/>
          </a:xfrm>
        </p:spPr>
        <p:txBody>
          <a:bodyPr vert="horz" wrap="square" lIns="91440" tIns="45720" rIns="91440" bIns="45720" anchor="ctr" anchorCtr="0"/>
          <a:p>
            <a:pPr eaLnBrk="1" hangingPunct="1"/>
            <a:r>
              <a:rPr lang="en-IN" altLang="en-US" sz="2000" dirty="0">
                <a:latin typeface="Times New Roman" panose="02020603050405020304" pitchFamily="18" charset="0"/>
                <a:cs typeface="Times New Roman" panose="02020603050405020304" pitchFamily="18" charset="0"/>
              </a:rPr>
              <a:t>Capstone Project – Final:  Review – 2 on</a:t>
            </a:r>
            <a:br>
              <a:rPr lang="en-IN" altLang="en-US" sz="3200" b="1" dirty="0">
                <a:latin typeface="Times New Roman" panose="02020603050405020304" pitchFamily="18" charset="0"/>
                <a:cs typeface="Times New Roman" panose="02020603050405020304" pitchFamily="18" charset="0"/>
              </a:rPr>
            </a:br>
            <a:r>
              <a:rPr lang="en-IN" altLang="en-US" sz="2800" b="1" dirty="0">
                <a:latin typeface="Times New Roman" panose="02020603050405020304" pitchFamily="18" charset="0"/>
                <a:cs typeface="Times New Roman" panose="02020603050405020304" pitchFamily="18" charset="0"/>
                <a:sym typeface="+mn-ea"/>
              </a:rPr>
              <a:t>DISCOVERING MENTAL DISORDERS LEVERAGING CONTRASTIVE LEARNING</a:t>
            </a:r>
            <a:endParaRPr lang="en-IN" altLang="en-US" sz="2800" b="1"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411413" y="4508500"/>
            <a:ext cx="4105275" cy="1222375"/>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Under the Guidance of</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altLang="en-US" sz="2000" noProof="0" dirty="0">
                <a:ln>
                  <a:noFill/>
                </a:ln>
                <a:effectLst/>
                <a:uLnTx/>
                <a:uFillTx/>
                <a:latin typeface="Times New Roman" panose="02020603050405020304" pitchFamily="18" charset="0"/>
                <a:cs typeface="Times New Roman" panose="02020603050405020304" pitchFamily="18" charset="0"/>
                <a:sym typeface="+mn-ea"/>
              </a:rPr>
              <a:t>Dr.Chintoo Kumar</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altLang="en-US" sz="2000" b="1"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sym typeface="+mn-ea"/>
              </a:rPr>
              <a:t>Assistant Professor</a:t>
            </a:r>
            <a:endParaRPr kumimoji="0" lang="en-IN" alt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alt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p:txBody>
      </p:sp>
      <p:sp>
        <p:nvSpPr>
          <p:cNvPr id="4100" name="TextBox 4"/>
          <p:cNvSpPr txBox="1">
            <a:spLocks noChangeArrowheads="1"/>
          </p:cNvSpPr>
          <p:nvPr/>
        </p:nvSpPr>
        <p:spPr bwMode="auto">
          <a:xfrm>
            <a:off x="84138" y="2420938"/>
            <a:ext cx="83756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anose="020F0502020204030204" pitchFamily="34" charset="0"/>
              </a:defRPr>
            </a:lvl1pPr>
            <a:lvl2pPr>
              <a:defRPr sz="2800">
                <a:solidFill>
                  <a:schemeClr val="tx1"/>
                </a:solidFill>
                <a:latin typeface="Calibri" panose="020F0502020204030204" pitchFamily="34" charset="0"/>
              </a:defRPr>
            </a:lvl2pPr>
            <a:lvl3pPr>
              <a:defRPr sz="24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6pPr>
            <a:lvl7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7pPr>
            <a:lvl8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8pPr>
            <a:lvl9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Presented by the Batch No. : CSE-91</a:t>
            </a:r>
            <a:endPar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0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V.SHEELA MADHURI</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BU22CSEN0101860</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MONICA R</a:t>
            </a:r>
            <a:r>
              <a:rPr lang="en-US"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BU22CSEN0102297	</a:t>
            </a:r>
            <a:endPar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lang="en-IN" altLang="it-IT"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MANASA M</a:t>
            </a:r>
            <a:r>
              <a:rPr lang="en-US"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BU22CSEN0102305</a:t>
            </a:r>
            <a:endPar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IN" altLang="it-IT"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SINDHURA S</a:t>
            </a:r>
            <a:r>
              <a:rPr lang="en-US"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IN"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BU22CSEN0102308</a:t>
            </a:r>
            <a:r>
              <a:rPr lang="en-US" altLang="en-US" sz="18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125" name="Rectangle 11"/>
          <p:cNvSpPr/>
          <p:nvPr/>
        </p:nvSpPr>
        <p:spPr>
          <a:xfrm>
            <a:off x="539750" y="5732463"/>
            <a:ext cx="82804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Computer Science and Systems Engineering</a:t>
            </a:r>
            <a:endParaRPr lang="en-IN" altLang="en-US" sz="2000" b="1" dirty="0">
              <a:solidFill>
                <a:srgbClr val="000099"/>
              </a:solidFill>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endParaRPr lang="en-US" altLang="en-US" sz="2000" dirty="0">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ea typeface="Times New Roman" panose="02020603050405020304" pitchFamily="18" charset="0"/>
            </a:endParaRPr>
          </a:p>
        </p:txBody>
      </p:sp>
      <p:pic>
        <p:nvPicPr>
          <p:cNvPr id="5126"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6147"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Testing Strategy &amp; Validation</a:t>
            </a:r>
            <a:endParaRPr lang="en-US"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Results, Analysis &amp; Discussion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
        <p:nvSpPr>
          <p:cNvPr id="6148"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6149"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Problem Statement</a:t>
            </a:r>
            <a:endParaRPr lang="en-IN" altLang="en-US" sz="2800" b="1" dirty="0">
              <a:latin typeface="Times New Roman" panose="02020603050405020304" pitchFamily="18" charset="0"/>
              <a:ea typeface="Times New Roman" panose="02020603050405020304" pitchFamily="18" charset="0"/>
            </a:endParaRPr>
          </a:p>
        </p:txBody>
      </p:sp>
      <p:sp>
        <p:nvSpPr>
          <p:cNvPr id="7171" name="Content Placeholder 2"/>
          <p:cNvSpPr>
            <a:spLocks noGrp="1"/>
          </p:cNvSpPr>
          <p:nvPr>
            <p:ph idx="1"/>
          </p:nvPr>
        </p:nvSpPr>
        <p:spPr>
          <a:xfrm>
            <a:off x="467360" y="1628775"/>
            <a:ext cx="8229600" cy="4525963"/>
          </a:xfrm>
        </p:spPr>
        <p:txBody>
          <a:bodyPr vert="horz" wrap="square" lIns="91440" tIns="45720" rIns="91440" bIns="45720" anchor="t" anchorCtr="0"/>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Mental disorders remain underdiagnosed due to stigma and lack of accessible tools.</a:t>
            </a:r>
            <a:r>
              <a:rPr lang="en-IN" altLang="en-US" sz="2000" dirty="0">
                <a:latin typeface="Times New Roman" panose="02020603050405020304" pitchFamily="18" charset="0"/>
                <a:cs typeface="Times New Roman" panose="02020603050405020304" pitchFamily="18" charset="0"/>
                <a:sym typeface="+mn-ea"/>
              </a:rPr>
              <a:t> </a:t>
            </a:r>
            <a:endParaRPr lang="en-IN" altLang="en-US" sz="2000" dirty="0">
              <a:latin typeface="Times New Roman" panose="02020603050405020304" pitchFamily="18" charset="0"/>
              <a:cs typeface="Times New Roman" panose="02020603050405020304" pitchFamily="18" charset="0"/>
              <a:sym typeface="+mn-ea"/>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Existing solutions depend on questionnaires or small datasets.</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Challenge: Build a scalable, accurate, and ethical detection system.</a:t>
            </a:r>
            <a:endParaRPr lang="en-IN" altLang="en-US" sz="2000" dirty="0"/>
          </a:p>
        </p:txBody>
      </p:sp>
      <p:sp>
        <p:nvSpPr>
          <p:cNvPr id="7172"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7173"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Objectives</a:t>
            </a:r>
            <a:endParaRPr lang="en-IN" altLang="en-US" sz="2800" b="1" dirty="0">
              <a:latin typeface="Times New Roman" panose="02020603050405020304" pitchFamily="18" charset="0"/>
              <a:ea typeface="Times New Roman" panose="02020603050405020304" pitchFamily="18" charset="0"/>
            </a:endParaRPr>
          </a:p>
        </p:txBody>
      </p:sp>
      <p:sp>
        <p:nvSpPr>
          <p:cNvPr id="8195" name="Content Placeholder 2"/>
          <p:cNvSpPr>
            <a:spLocks noGrp="1"/>
          </p:cNvSpPr>
          <p:nvPr>
            <p:ph idx="1"/>
          </p:nvPr>
        </p:nvSpPr>
        <p:spPr/>
        <p:txBody>
          <a:bodyPr vert="horz" wrap="square" lIns="91440" tIns="45720" rIns="91440" bIns="45720" anchor="t" anchorCtr="0"/>
          <a:p>
            <a:pPr algn="just" eaLnBrk="1" hangingPunct="1">
              <a:lnSpc>
                <a:spcPct val="150000"/>
              </a:lnSpc>
              <a:spcBef>
                <a:spcPct val="0"/>
              </a:spcBef>
              <a:buFontTx/>
              <a:buNone/>
            </a:pPr>
            <a:r>
              <a:rPr lang="en-IN" altLang="en-US" sz="2000" dirty="0">
                <a:ln>
                  <a:noFill/>
                </a:ln>
                <a:effectLst/>
                <a:latin typeface="Times New Roman" panose="02020603050405020304" pitchFamily="18" charset="0"/>
                <a:cs typeface="Times New Roman" panose="02020603050405020304" pitchFamily="18" charset="0"/>
                <a:sym typeface="+mn-ea"/>
              </a:rPr>
              <a:t>     </a:t>
            </a:r>
            <a:r>
              <a:rPr lang="en-US" altLang="en-US" sz="2000" dirty="0">
                <a:ln>
                  <a:noFill/>
                </a:ln>
                <a:effectLst/>
                <a:latin typeface="Times New Roman" panose="02020603050405020304" pitchFamily="18" charset="0"/>
                <a:cs typeface="Times New Roman" panose="02020603050405020304" pitchFamily="18" charset="0"/>
                <a:sym typeface="+mn-ea"/>
              </a:rPr>
              <a:t>Identify relevant datasets (surveys, clinical, social media).Apply ML/</a:t>
            </a:r>
            <a:r>
              <a:rPr lang="en-IN" altLang="en-US" sz="2000" dirty="0">
                <a:ln>
                  <a:noFill/>
                </a:ln>
                <a:effectLst/>
                <a:latin typeface="Times New Roman" panose="02020603050405020304" pitchFamily="18" charset="0"/>
                <a:cs typeface="Times New Roman" panose="02020603050405020304" pitchFamily="18" charset="0"/>
                <a:sym typeface="+mn-ea"/>
              </a:rPr>
              <a:t>DL </a:t>
            </a:r>
            <a:r>
              <a:rPr lang="en-US" altLang="en-US" sz="2000" dirty="0">
                <a:ln>
                  <a:noFill/>
                </a:ln>
                <a:effectLst/>
                <a:latin typeface="Times New Roman" panose="02020603050405020304" pitchFamily="18" charset="0"/>
                <a:cs typeface="Times New Roman" panose="02020603050405020304" pitchFamily="18" charset="0"/>
                <a:sym typeface="+mn-ea"/>
              </a:rPr>
              <a:t>techniques for classification (depression, anxiety, bipolar, etc.)</a:t>
            </a:r>
            <a:r>
              <a:rPr lang="en-IN" altLang="en-US" sz="2000" dirty="0">
                <a:ln>
                  <a:noFill/>
                </a:ln>
                <a:effectLst/>
                <a:latin typeface="Times New Roman" panose="02020603050405020304" pitchFamily="18" charset="0"/>
                <a:cs typeface="Times New Roman" panose="02020603050405020304" pitchFamily="18" charset="0"/>
                <a:sym typeface="+mn-ea"/>
              </a:rPr>
              <a:t>.</a:t>
            </a:r>
            <a:r>
              <a:rPr lang="en-US" altLang="en-US" sz="2000" dirty="0">
                <a:ln>
                  <a:noFill/>
                </a:ln>
                <a:effectLst/>
                <a:latin typeface="Times New Roman" panose="02020603050405020304" pitchFamily="18" charset="0"/>
                <a:cs typeface="Times New Roman" panose="02020603050405020304" pitchFamily="18" charset="0"/>
                <a:sym typeface="+mn-ea"/>
              </a:rPr>
              <a:t>Leverage study/learning-based analysis to recommend coping strategies.Develop a prototype system for testing.</a:t>
            </a:r>
            <a:endParaRPr lang="en-US" altLang="en-US" sz="2000" b="1" i="1" u="sng" dirty="0">
              <a:latin typeface="Times New Roman" panose="02020603050405020304" pitchFamily="18" charset="0"/>
              <a:ea typeface="Times New Roman" panose="02020603050405020304" pitchFamily="18" charset="0"/>
            </a:endParaRPr>
          </a:p>
          <a:p>
            <a:pPr eaLnBrk="1" hangingPunct="1">
              <a:spcBef>
                <a:spcPct val="0"/>
              </a:spcBef>
              <a:buFontTx/>
              <a:buNone/>
            </a:pPr>
            <a:r>
              <a:rPr lang="en-US" altLang="en-US" sz="2000" dirty="0">
                <a:solidFill>
                  <a:srgbClr val="000000"/>
                </a:solidFill>
                <a:latin typeface="Times New Roman" panose="02020603050405020304" pitchFamily="18" charset="0"/>
                <a:cs typeface="Times New Roman" panose="02020603050405020304" pitchFamily="18" charset="0"/>
              </a:rPr>
              <a:t> </a:t>
            </a:r>
            <a:endParaRPr lang="en-US" altLang="en-US" sz="2000" b="1" i="1" u="sng" dirty="0">
              <a:latin typeface="Times New Roman" panose="02020603050405020304" pitchFamily="18" charset="0"/>
              <a:ea typeface="Times New Roman" panose="02020603050405020304" pitchFamily="18" charset="0"/>
            </a:endParaRPr>
          </a:p>
        </p:txBody>
      </p:sp>
      <p:sp>
        <p:nvSpPr>
          <p:cNvPr id="8196"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8197"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457200" y="274955"/>
            <a:ext cx="8229600" cy="549275"/>
          </a:xfrm>
        </p:spPr>
        <p:txBody>
          <a:bodyPr vert="horz" wrap="square" lIns="91440" tIns="45720" rIns="91440" bIns="45720" anchor="ctr" anchorCtr="0"/>
          <a:p>
            <a:r>
              <a:rPr lang="en-US" altLang="en-US" sz="2800" b="1" dirty="0">
                <a:latin typeface="Times New Roman" panose="02020603050405020304" pitchFamily="18" charset="0"/>
                <a:cs typeface="Times New Roman" panose="02020603050405020304" pitchFamily="18" charset="0"/>
              </a:rPr>
              <a:t>Design Strategy</a:t>
            </a:r>
            <a:endParaRPr lang="en-IN" altLang="en-US" sz="2800" dirty="0"/>
          </a:p>
        </p:txBody>
      </p:sp>
      <p:sp>
        <p:nvSpPr>
          <p:cNvPr id="9219"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9220" name="Rectangle 3"/>
          <p:cNvSpPr/>
          <p:nvPr/>
        </p:nvSpPr>
        <p:spPr>
          <a:xfrm>
            <a:off x="684530" y="762635"/>
            <a:ext cx="2131695" cy="444500"/>
          </a:xfrm>
          <a:prstGeom prst="rect">
            <a:avLst/>
          </a:prstGeom>
          <a:noFill/>
          <a:ln w="9525">
            <a:noFill/>
          </a:ln>
        </p:spPr>
        <p:txBody>
          <a:bodyPr wrap="none">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000" b="1" dirty="0">
                <a:latin typeface="Times New Roman" panose="02020603050405020304" pitchFamily="18" charset="0"/>
                <a:cs typeface="Times New Roman" panose="02020603050405020304" pitchFamily="18" charset="0"/>
              </a:rPr>
              <a:t>Project Workflow</a:t>
            </a:r>
            <a:endParaRPr lang="en-IN" altLang="en-US" sz="2000" dirty="0">
              <a:ea typeface="Arial" panose="020B0604020202020204" pitchFamily="34" charset="0"/>
            </a:endParaRPr>
          </a:p>
        </p:txBody>
      </p:sp>
      <p:pic>
        <p:nvPicPr>
          <p:cNvPr id="9221"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
        <p:nvSpPr>
          <p:cNvPr id="4" name="Text Box 3"/>
          <p:cNvSpPr txBox="1"/>
          <p:nvPr/>
        </p:nvSpPr>
        <p:spPr>
          <a:xfrm>
            <a:off x="502920" y="1124585"/>
            <a:ext cx="6355080" cy="5733415"/>
          </a:xfrm>
          <a:prstGeom prst="rect">
            <a:avLst/>
          </a:prstGeom>
          <a:noFill/>
        </p:spPr>
        <p:txBody>
          <a:bodyPr wrap="square" rtlCol="0" anchor="t">
            <a:noAutofit/>
          </a:bodyPr>
          <a:p>
            <a:r>
              <a:rPr lang="en-US" altLang="en-US"/>
              <a:t>[Start]</a:t>
            </a:r>
            <a:endParaRPr lang="en-US" altLang="en-US"/>
          </a:p>
          <a:p>
            <a:r>
              <a:rPr lang="en-US" altLang="en-US"/>
              <a:t>   ↓</a:t>
            </a:r>
            <a:endParaRPr lang="en-US" altLang="en-US"/>
          </a:p>
          <a:p>
            <a:r>
              <a:rPr lang="en-US" altLang="en-US"/>
              <a:t>[Audio Data Collection]</a:t>
            </a:r>
            <a:endParaRPr lang="en-US" altLang="en-US"/>
          </a:p>
          <a:p>
            <a:r>
              <a:rPr lang="en-US" altLang="en-US"/>
              <a:t>   ↓</a:t>
            </a:r>
            <a:endParaRPr lang="en-US" altLang="en-US"/>
          </a:p>
          <a:p>
            <a:r>
              <a:rPr lang="en-US" altLang="en-US"/>
              <a:t>[Audio Preprocessing]</a:t>
            </a:r>
            <a:endParaRPr lang="en-US" altLang="en-US"/>
          </a:p>
          <a:p>
            <a:r>
              <a:rPr lang="en-US" altLang="en-US"/>
              <a:t>   ↓</a:t>
            </a:r>
            <a:endParaRPr lang="en-US" altLang="en-US"/>
          </a:p>
          <a:p>
            <a:r>
              <a:rPr lang="en-US" altLang="en-US"/>
              <a:t>[MFCC Feature Extraction]</a:t>
            </a:r>
            <a:endParaRPr lang="en-US" altLang="en-US"/>
          </a:p>
          <a:p>
            <a:r>
              <a:rPr lang="en-US" altLang="en-US"/>
              <a:t>   ↓</a:t>
            </a:r>
            <a:endParaRPr lang="en-US" altLang="en-US"/>
          </a:p>
          <a:p>
            <a:r>
              <a:rPr lang="en-US" altLang="en-US"/>
              <a:t>[Contrastive Learning]</a:t>
            </a:r>
            <a:endParaRPr lang="en-US" altLang="en-US"/>
          </a:p>
          <a:p>
            <a:r>
              <a:rPr lang="en-US" altLang="en-US"/>
              <a:t>   ↓</a:t>
            </a:r>
            <a:endParaRPr lang="en-US" altLang="en-US"/>
          </a:p>
          <a:p>
            <a:r>
              <a:rPr lang="en-US" altLang="en-US"/>
              <a:t>[CNN Model Training]</a:t>
            </a:r>
            <a:endParaRPr lang="en-US" altLang="en-US"/>
          </a:p>
          <a:p>
            <a:r>
              <a:rPr lang="en-US" altLang="en-US"/>
              <a:t>   ↓</a:t>
            </a:r>
            <a:endParaRPr lang="en-US" altLang="en-US"/>
          </a:p>
          <a:p>
            <a:r>
              <a:rPr lang="en-US" altLang="en-US"/>
              <a:t>[Model Testing]</a:t>
            </a:r>
            <a:endParaRPr lang="en-US" altLang="en-US"/>
          </a:p>
          <a:p>
            <a:r>
              <a:rPr lang="en-US" altLang="en-US"/>
              <a:t>   ↓</a:t>
            </a:r>
            <a:endParaRPr lang="en-US" altLang="en-US"/>
          </a:p>
          <a:p>
            <a:r>
              <a:rPr lang="en-US" altLang="en-US"/>
              <a:t>[Emotion Detection]</a:t>
            </a:r>
            <a:endParaRPr lang="en-US" altLang="en-US"/>
          </a:p>
          <a:p>
            <a:r>
              <a:rPr lang="en-US" altLang="en-US"/>
              <a:t>   ↓</a:t>
            </a:r>
            <a:endParaRPr lang="en-US" altLang="en-US"/>
          </a:p>
          <a:p>
            <a:r>
              <a:rPr lang="en-US" altLang="en-US"/>
              <a:t>[Mental Disorder Prediction]</a:t>
            </a:r>
            <a:endParaRPr lang="en-US" altLang="en-US"/>
          </a:p>
          <a:p>
            <a:r>
              <a:rPr lang="en-US" altLang="en-US"/>
              <a:t>   ↓</a:t>
            </a:r>
            <a:endParaRPr lang="en-US" altLang="en-US"/>
          </a:p>
          <a:p>
            <a:r>
              <a:rPr lang="en-US" altLang="en-US"/>
              <a:t>[Report Generation]</a:t>
            </a:r>
            <a:endParaRPr lang="en-US" altLang="en-US"/>
          </a:p>
          <a:p>
            <a:r>
              <a:rPr lang="en-US" altLang="en-US"/>
              <a:t>   ↓</a:t>
            </a:r>
            <a:endParaRPr lang="en-US" altLang="en-US"/>
          </a:p>
          <a:p>
            <a:r>
              <a:rPr lang="en-US" altLang="en-US"/>
              <a:t>[End]</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323850" y="846138"/>
            <a:ext cx="8229600" cy="1143000"/>
          </a:xfrm>
        </p:spPr>
        <p:txBody>
          <a:bodyPr vert="horz" wrap="square" lIns="91440" tIns="45720" rIns="91440" bIns="45720" anchor="ctr" anchorCtr="0"/>
          <a:p>
            <a:pPr>
              <a:buNone/>
            </a:pPr>
            <a:r>
              <a:rPr lang="en-US" altLang="en-US" sz="2800" b="1"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US" altLang="en-US" sz="2800" b="1" dirty="0">
              <a:latin typeface="Times New Roman" panose="02020603050405020304" pitchFamily="18" charset="0"/>
              <a:ea typeface="Times New Roman" panose="02020603050405020304" pitchFamily="18" charset="0"/>
            </a:endParaRPr>
          </a:p>
        </p:txBody>
      </p:sp>
      <p:sp>
        <p:nvSpPr>
          <p:cNvPr id="10244"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10245" name="Content Placeholder 2"/>
          <p:cNvSpPr txBox="1"/>
          <p:nvPr/>
        </p:nvSpPr>
        <p:spPr>
          <a:xfrm>
            <a:off x="327025" y="2122170"/>
            <a:ext cx="8229600" cy="158242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Feedback from Guide/Reviewers</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Improve the accuracy of the model.</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2</a:t>
            </a:r>
            <a:r>
              <a:rPr lang="en-IN" altLang="en-US" sz="2000" b="1"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What about the working model.</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3.</a:t>
            </a:r>
            <a:r>
              <a:rPr lang="en-IN" altLang="en-US" sz="2000" dirty="0">
                <a:latin typeface="Times New Roman" panose="02020603050405020304" pitchFamily="18" charset="0"/>
                <a:cs typeface="Times New Roman" panose="02020603050405020304" pitchFamily="18" charset="0"/>
              </a:rPr>
              <a:t> Minor changes in the algorithm.</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Actions taken</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We have increased</a:t>
            </a:r>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the accuracy of the model by training it with different algorithms.</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a:t>
            </a:r>
            <a:r>
              <a:rPr lang="en-IN" altLang="en-US" sz="2000" dirty="0">
                <a:latin typeface="Times New Roman" panose="02020603050405020304" pitchFamily="18" charset="0"/>
                <a:cs typeface="Times New Roman" panose="02020603050405020304" pitchFamily="18" charset="0"/>
              </a:rPr>
              <a:t>We are working on it and have developed the model.</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3.</a:t>
            </a:r>
            <a:r>
              <a:rPr lang="en-IN" altLang="en-US" sz="2000" dirty="0">
                <a:latin typeface="Times New Roman" panose="02020603050405020304" pitchFamily="18" charset="0"/>
                <a:cs typeface="Times New Roman" panose="02020603050405020304" pitchFamily="18" charset="0"/>
              </a:rPr>
              <a:t>We have made the changes as per the requirement.</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ea typeface="Times New Roman" panose="02020603050405020304" pitchFamily="18" charset="0"/>
            </a:endParaRPr>
          </a:p>
        </p:txBody>
      </p:sp>
      <p:pic>
        <p:nvPicPr>
          <p:cNvPr id="10246"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1267"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Testing Strategy &amp; Validation</a:t>
            </a:r>
            <a:endParaRPr lang="en-US"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Results, Analysis &amp; Discussion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
        <p:nvSpPr>
          <p:cNvPr id="11268"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1269"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
        <p:nvSpPr>
          <p:cNvPr id="12291" name="Title 1"/>
          <p:cNvSpPr>
            <a:spLocks noGrp="1"/>
          </p:cNvSpPr>
          <p:nvPr>
            <p:ph type="title"/>
          </p:nvPr>
        </p:nvSpPr>
        <p:spPr>
          <a:xfrm>
            <a:off x="107950" y="157163"/>
            <a:ext cx="8229600" cy="777875"/>
          </a:xfrm>
        </p:spPr>
        <p:txBody>
          <a:bodyPr vert="horz" wrap="square" lIns="91440" tIns="45720" rIns="91440" bIns="45720" anchor="ctr" anchorCtr="0"/>
          <a:p>
            <a:r>
              <a:rPr lang="en-US" altLang="en-US" sz="2800" b="1" dirty="0">
                <a:latin typeface="Times New Roman" panose="02020603050405020304" pitchFamily="18" charset="0"/>
                <a:cs typeface="Times New Roman" panose="02020603050405020304" pitchFamily="18" charset="0"/>
              </a:rPr>
              <a:t>Testing Strategy &amp; Validation</a:t>
            </a:r>
            <a:endParaRPr lang="en-IN" altLang="en-US" sz="2800" b="1" dirty="0">
              <a:latin typeface="Times New Roman" panose="02020603050405020304" pitchFamily="18" charset="0"/>
              <a:ea typeface="Times New Roman" panose="02020603050405020304" pitchFamily="18" charset="0"/>
            </a:endParaRPr>
          </a:p>
        </p:txBody>
      </p:sp>
      <p:sp>
        <p:nvSpPr>
          <p:cNvPr id="12292" name="Rectangle 1"/>
          <p:cNvSpPr/>
          <p:nvPr/>
        </p:nvSpPr>
        <p:spPr>
          <a:xfrm>
            <a:off x="150495" y="1412875"/>
            <a:ext cx="9069070" cy="4369435"/>
          </a:xfrm>
          <a:prstGeom prst="rect">
            <a:avLst/>
          </a:prstGeom>
          <a:noFill/>
          <a:ln w="9525">
            <a:noFill/>
          </a:ln>
        </p:spPr>
        <p:txBody>
          <a:bodyPr wrap="square">
            <a:spAutoFit/>
          </a:bodyPr>
          <a:p>
            <a:pPr algn="l"/>
            <a:r>
              <a:rPr lang="en-US" altLang="en-US" b="1" dirty="0">
                <a:latin typeface="Times New Roman" panose="02020603050405020304" pitchFamily="18" charset="0"/>
                <a:cs typeface="Times New Roman" panose="02020603050405020304" pitchFamily="18" charset="0"/>
              </a:rPr>
              <a:t>Dataset:</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RAVDESS (Ryerson Audio-Visual Database of Emotional Speech and Song)</a:t>
            </a:r>
            <a:endParaRPr lang="en-US" altLang="en-US" sz="2000" dirty="0">
              <a:latin typeface="Times New Roman" panose="02020603050405020304" pitchFamily="18" charset="0"/>
              <a:cs typeface="Times New Roman" panose="02020603050405020304" pitchFamily="18" charset="0"/>
            </a:endParaRPr>
          </a:p>
          <a:p>
            <a:pPr algn="l"/>
            <a:r>
              <a:rPr lang="en-US" altLang="en-US" sz="2000" dirty="0">
                <a:latin typeface="Times New Roman" panose="02020603050405020304" pitchFamily="18" charset="0"/>
                <a:cs typeface="Times New Roman" panose="02020603050405020304" pitchFamily="18" charset="0"/>
              </a:rPr>
              <a:t>Contains:</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Audio and speech recordings</a:t>
            </a:r>
            <a:r>
              <a:rPr lang="en-IN" altLang="en-US" sz="20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algn="l"/>
            <a:r>
              <a:rPr lang="en-US" altLang="en-US" sz="2000" dirty="0">
                <a:latin typeface="Times New Roman" panose="02020603050405020304" pitchFamily="18" charset="0"/>
                <a:cs typeface="Times New Roman" panose="02020603050405020304" pitchFamily="18" charset="0"/>
              </a:rPr>
              <a:t>Multiple emotions (happy, sad, angry, neutral, etc.)</a:t>
            </a:r>
            <a:endParaRPr lang="en-US" altLang="en-US" sz="2000" dirty="0">
              <a:latin typeface="Times New Roman" panose="02020603050405020304" pitchFamily="18" charset="0"/>
              <a:cs typeface="Times New Roman" panose="02020603050405020304" pitchFamily="18" charset="0"/>
            </a:endParaRPr>
          </a:p>
          <a:p>
            <a:pPr algn="l"/>
            <a:r>
              <a:rPr lang="en-US" altLang="en-US" sz="2000" dirty="0">
                <a:latin typeface="Times New Roman" panose="02020603050405020304" pitchFamily="18" charset="0"/>
                <a:cs typeface="Times New Roman" panose="02020603050405020304" pitchFamily="18" charset="0"/>
              </a:rPr>
              <a:t>Used for:</a:t>
            </a:r>
            <a:endParaRPr lang="en-US" altLang="en-US" sz="2000" dirty="0">
              <a:latin typeface="Times New Roman" panose="02020603050405020304" pitchFamily="18" charset="0"/>
              <a:cs typeface="Times New Roman" panose="02020603050405020304" pitchFamily="18" charset="0"/>
            </a:endParaRPr>
          </a:p>
          <a:p>
            <a:pPr algn="l"/>
            <a:r>
              <a:rPr lang="en-US" altLang="en-US" sz="2000" dirty="0">
                <a:latin typeface="Times New Roman" panose="02020603050405020304" pitchFamily="18" charset="0"/>
                <a:cs typeface="Times New Roman" panose="02020603050405020304" pitchFamily="18" charset="0"/>
              </a:rPr>
              <a:t>Emotion recognition</a:t>
            </a:r>
            <a:endParaRPr lang="en-US" altLang="en-US" sz="2000" dirty="0">
              <a:latin typeface="Times New Roman" panose="02020603050405020304" pitchFamily="18" charset="0"/>
              <a:cs typeface="Times New Roman" panose="02020603050405020304" pitchFamily="18" charset="0"/>
            </a:endParaRPr>
          </a:p>
          <a:p>
            <a:pPr algn="l"/>
            <a:r>
              <a:rPr lang="en-US" altLang="en-US" sz="2000" dirty="0">
                <a:latin typeface="Times New Roman" panose="02020603050405020304" pitchFamily="18" charset="0"/>
                <a:cs typeface="Times New Roman" panose="02020603050405020304" pitchFamily="18" charset="0"/>
              </a:rPr>
              <a:t>Mental health pattern analysi</a:t>
            </a:r>
            <a:r>
              <a:rPr lang="en-US" altLang="en-US" dirty="0">
                <a:latin typeface="Calibri" panose="020F0502020204030204" pitchFamily="34" charset="0"/>
              </a:rPr>
              <a:t>s</a:t>
            </a:r>
            <a:endParaRPr lang="en-US" altLang="en-US" dirty="0">
              <a:latin typeface="Calibri" panose="020F0502020204030204" pitchFamily="34" charset="0"/>
            </a:endParaRPr>
          </a:p>
          <a:p>
            <a:pPr algn="l"/>
            <a:endParaRPr lang="en-US" altLang="en-US" dirty="0">
              <a:latin typeface="Calibri" panose="020F0502020204030204" pitchFamily="34" charset="0"/>
            </a:endParaRPr>
          </a:p>
          <a:p>
            <a:pPr algn="l"/>
            <a:r>
              <a:rPr lang="en-US" altLang="en-US" sz="2000" b="1" dirty="0">
                <a:latin typeface="Times New Roman" panose="02020603050405020304" pitchFamily="18" charset="0"/>
                <a:cs typeface="Times New Roman" panose="02020603050405020304" pitchFamily="18" charset="0"/>
              </a:rPr>
              <a:t>Unit Testing</a:t>
            </a:r>
            <a:r>
              <a:rPr lang="en-IN"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algn="l"/>
            <a:r>
              <a:rPr lang="en-US" altLang="en-US" sz="2000" dirty="0">
                <a:latin typeface="Calibri" panose="020F0502020204030204" pitchFamily="34" charset="0"/>
              </a:rPr>
              <a:t>Tested individual components:</a:t>
            </a:r>
            <a:endParaRPr lang="en-US" altLang="en-US" sz="2000" dirty="0">
              <a:latin typeface="Calibri" panose="020F0502020204030204" pitchFamily="34" charset="0"/>
            </a:endParaRPr>
          </a:p>
          <a:p>
            <a:pPr algn="l"/>
            <a:r>
              <a:rPr lang="en-US" altLang="en-US" sz="2000" dirty="0">
                <a:latin typeface="Calibri" panose="020F0502020204030204" pitchFamily="34" charset="0"/>
              </a:rPr>
              <a:t>Audio preprocessing (noise removal, normalization)</a:t>
            </a:r>
            <a:endParaRPr lang="en-US" altLang="en-US" sz="2000" dirty="0">
              <a:latin typeface="Calibri" panose="020F0502020204030204" pitchFamily="34" charset="0"/>
            </a:endParaRPr>
          </a:p>
          <a:p>
            <a:pPr algn="l"/>
            <a:r>
              <a:rPr lang="en-US" altLang="en-US" sz="2000" dirty="0">
                <a:latin typeface="Calibri" panose="020F0502020204030204" pitchFamily="34" charset="0"/>
              </a:rPr>
              <a:t>Feature extraction (MFCC</a:t>
            </a:r>
            <a:r>
              <a:rPr lang="en-IN" altLang="en-US" sz="2000" dirty="0">
                <a:latin typeface="Calibri" panose="020F0502020204030204" pitchFamily="34" charset="0"/>
              </a:rPr>
              <a:t>) and WAV2VEC2.</a:t>
            </a:r>
            <a:endParaRPr lang="en-US" altLang="en-US" sz="2000" dirty="0">
              <a:latin typeface="Calibri" panose="020F0502020204030204" pitchFamily="34" charset="0"/>
            </a:endParaRPr>
          </a:p>
          <a:p>
            <a:pPr algn="l"/>
            <a:r>
              <a:rPr lang="en-US" altLang="en-US" sz="2000" dirty="0">
                <a:latin typeface="Calibri" panose="020F0502020204030204" pitchFamily="34" charset="0"/>
              </a:rPr>
              <a:t>Input formatting from RAVDESS dataset</a:t>
            </a:r>
            <a:endParaRPr lang="en-US" altLang="en-US" sz="2000" dirty="0">
              <a:latin typeface="Calibri" panose="020F0502020204030204" pitchFamily="34" charset="0"/>
            </a:endParaRPr>
          </a:p>
          <a:p>
            <a:pPr algn="l"/>
            <a:r>
              <a:rPr lang="en-US" altLang="en-US" sz="2000" dirty="0">
                <a:latin typeface="Calibri" panose="020F0502020204030204" pitchFamily="34" charset="0"/>
              </a:rPr>
              <a:t>Ensured:</a:t>
            </a:r>
            <a:endParaRPr lang="en-US" altLang="en-US" sz="2000" dirty="0">
              <a:latin typeface="Calibri" panose="020F0502020204030204" pitchFamily="34" charset="0"/>
            </a:endParaRPr>
          </a:p>
          <a:p>
            <a:pPr algn="l"/>
            <a:r>
              <a:rPr lang="en-US" altLang="en-US" sz="2000" dirty="0">
                <a:latin typeface="Calibri" panose="020F0502020204030204" pitchFamily="34" charset="0"/>
              </a:rPr>
              <a:t>Correct feature generation from audio signals</a:t>
            </a:r>
            <a:endParaRPr lang="en-US" altLang="en-US" sz="2000" dirty="0">
              <a:latin typeface="Calibri" panose="020F0502020204030204" pitchFamily="34" charset="0"/>
            </a:endParaRPr>
          </a:p>
        </p:txBody>
      </p:sp>
      <p:pic>
        <p:nvPicPr>
          <p:cNvPr id="12293"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5260" y="95250"/>
            <a:ext cx="8948420" cy="6663690"/>
          </a:xfrm>
        </p:spPr>
        <p:txBody>
          <a:bodyPr/>
          <a:p>
            <a:pPr marL="0" indent="0">
              <a:buNone/>
            </a:pPr>
            <a:r>
              <a:rPr lang="en-US" altLang="en-US" sz="2000" b="1">
                <a:latin typeface="Times New Roman" panose="02020603050405020304" pitchFamily="18" charset="0"/>
                <a:cs typeface="Times New Roman" panose="02020603050405020304" pitchFamily="18" charset="0"/>
              </a:rPr>
              <a:t>Integration Testing</a:t>
            </a:r>
            <a:r>
              <a:rPr lang="en-IN" altLang="en-US" sz="2000" b="1">
                <a:latin typeface="Times New Roman" panose="02020603050405020304" pitchFamily="18" charset="0"/>
                <a:cs typeface="Times New Roman" panose="02020603050405020304" pitchFamily="18" charset="0"/>
              </a:rPr>
              <a:t>:</a:t>
            </a:r>
            <a:endParaRPr lang="en-IN"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Combined modules tested: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RAVDESS audio input → Feature extraction → Model</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Verified: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Smooth pipeline from raw audio to model input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No data loss or mismatch</a:t>
            </a:r>
            <a:r>
              <a:rPr lang="en-IN" altLang="en-US" sz="2000">
                <a:latin typeface="Times New Roman" panose="02020603050405020304" pitchFamily="18" charset="0"/>
                <a:cs typeface="Times New Roman" panose="02020603050405020304" pitchFamily="18" charset="0"/>
              </a:rPr>
              <a:t>.</a:t>
            </a:r>
            <a:endParaRPr lang="en-IN" altLang="en-US" sz="2000">
              <a:latin typeface="Times New Roman" panose="02020603050405020304" pitchFamily="18" charset="0"/>
              <a:cs typeface="Times New Roman" panose="02020603050405020304" pitchFamily="18" charset="0"/>
            </a:endParaRPr>
          </a:p>
          <a:p>
            <a:pPr marL="0" indent="0">
              <a:buNone/>
            </a:pPr>
            <a:endParaRPr lang="en-IN"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System Testing</a:t>
            </a:r>
            <a:r>
              <a:rPr lang="en-IN" altLang="en-US" sz="2000" b="1">
                <a:latin typeface="Times New Roman" panose="02020603050405020304" pitchFamily="18" charset="0"/>
                <a:cs typeface="Times New Roman" panose="02020603050405020304" pitchFamily="18" charset="0"/>
              </a:rPr>
              <a:t>:</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End-to-end testing performed: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Input: RAVDESS audio samples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Output: Predicted emotion/disorder</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Ensured: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Complete workflow functioning correctly</a:t>
            </a:r>
            <a:r>
              <a:rPr lang="en-IN" altLang="en-US" sz="2000">
                <a:latin typeface="Times New Roman" panose="02020603050405020304" pitchFamily="18" charset="0"/>
                <a:cs typeface="Times New Roman" panose="02020603050405020304" pitchFamily="18" charset="0"/>
              </a:rPr>
              <a:t>.</a:t>
            </a:r>
            <a:endParaRPr lang="en-IN" altLang="en-US" sz="2000">
              <a:latin typeface="Times New Roman" panose="02020603050405020304" pitchFamily="18" charset="0"/>
              <a:cs typeface="Times New Roman" panose="02020603050405020304" pitchFamily="18" charset="0"/>
            </a:endParaRPr>
          </a:p>
        </p:txBody>
      </p:sp>
      <p:pic>
        <p:nvPicPr>
          <p:cNvPr id="12293"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147955"/>
            <a:ext cx="8651240" cy="6282690"/>
          </a:xfrm>
        </p:spPr>
        <p:txBody>
          <a:bodyPr/>
          <a:p>
            <a:pPr marL="0" indent="0">
              <a:buNone/>
            </a:pPr>
            <a:r>
              <a:rPr lang="en-US" altLang="en-US" sz="2000" b="1">
                <a:latin typeface="Times New Roman" panose="02020603050405020304" pitchFamily="18" charset="0"/>
                <a:cs typeface="Times New Roman" panose="02020603050405020304" pitchFamily="18" charset="0"/>
              </a:rPr>
              <a:t>Performance Testing</a:t>
            </a:r>
            <a:r>
              <a:rPr lang="en-IN" altLang="en-US" sz="2000" b="1">
                <a:latin typeface="Times New Roman" panose="02020603050405020304" pitchFamily="18" charset="0"/>
                <a:cs typeface="Times New Roman" panose="02020603050405020304" pitchFamily="18" charset="0"/>
              </a:rPr>
              <a:t>:</a:t>
            </a:r>
            <a:endParaRPr lang="en-IN"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Evaluated model using RAVDESS dataset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Metrics: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Accuracy of emotion detection</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Observed: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Reliable performance on unseen audio samples</a:t>
            </a:r>
            <a:r>
              <a:rPr lang="en-IN" altLang="en-US" sz="2000">
                <a:latin typeface="Times New Roman" panose="02020603050405020304" pitchFamily="18" charset="0"/>
                <a:cs typeface="Times New Roman" panose="02020603050405020304" pitchFamily="18" charset="0"/>
              </a:rPr>
              <a:t>.</a:t>
            </a:r>
            <a:endParaRPr lang="en-IN" altLang="en-US" sz="2000">
              <a:latin typeface="Times New Roman" panose="02020603050405020304" pitchFamily="18" charset="0"/>
              <a:cs typeface="Times New Roman" panose="02020603050405020304" pitchFamily="18" charset="0"/>
            </a:endParaRPr>
          </a:p>
          <a:p>
            <a:pPr marL="0" indent="0">
              <a:buNone/>
            </a:pPr>
            <a:endParaRPr lang="en-IN"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Validation Technique</a:t>
            </a:r>
            <a:r>
              <a:rPr lang="en-IN" altLang="en-US" sz="2000" b="1">
                <a:latin typeface="Times New Roman" panose="02020603050405020304" pitchFamily="18" charset="0"/>
                <a:cs typeface="Times New Roman" panose="02020603050405020304" pitchFamily="18" charset="0"/>
              </a:rPr>
              <a:t>:</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Used: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Train-Test Split (70-15-15)</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K-Fold Cross Validation (K=5)</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Ensures: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Model generalization</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Reduced overfitting</a:t>
            </a:r>
            <a:endParaRPr lang="en-US" altLang="en-US" sz="2000">
              <a:latin typeface="Times New Roman" panose="02020603050405020304" pitchFamily="18" charset="0"/>
              <a:cs typeface="Times New Roman" panose="02020603050405020304" pitchFamily="18" charset="0"/>
            </a:endParaRPr>
          </a:p>
        </p:txBody>
      </p:sp>
      <p:pic>
        <p:nvPicPr>
          <p:cNvPr id="12293"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3315"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Testing Strategy &amp; Validation</a:t>
            </a:r>
            <a:endParaRPr lang="en-US"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Results, Analysis &amp; Discussion</a:t>
            </a:r>
            <a:endParaRPr lang="en-IN"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
        <p:nvSpPr>
          <p:cNvPr id="13316"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3317"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107950" y="160338"/>
            <a:ext cx="8229600" cy="1143000"/>
          </a:xfrm>
        </p:spPr>
        <p:txBody>
          <a:bodyPr vert="horz" wrap="square" lIns="91440" tIns="45720" rIns="91440" bIns="45720" anchor="ctr" anchorCtr="0"/>
          <a:p>
            <a:r>
              <a:rPr lang="en-US" altLang="en-US" sz="2800" b="1" dirty="0">
                <a:latin typeface="Times New Roman" panose="02020603050405020304" pitchFamily="18" charset="0"/>
                <a:cs typeface="Times New Roman" panose="02020603050405020304" pitchFamily="18" charset="0"/>
              </a:rPr>
              <a:t>Results, Analysis &amp; Discussion</a:t>
            </a:r>
            <a:endParaRPr lang="en-IN" altLang="en-US" sz="2800" b="1" dirty="0">
              <a:latin typeface="Times New Roman" panose="02020603050405020304" pitchFamily="18" charset="0"/>
              <a:ea typeface="Times New Roman" panose="02020603050405020304" pitchFamily="18" charset="0"/>
            </a:endParaRPr>
          </a:p>
        </p:txBody>
      </p:sp>
      <p:sp>
        <p:nvSpPr>
          <p:cNvPr id="14339"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14340" name="Rectangle 3"/>
          <p:cNvSpPr/>
          <p:nvPr/>
        </p:nvSpPr>
        <p:spPr>
          <a:xfrm>
            <a:off x="265430" y="1169670"/>
            <a:ext cx="8792845" cy="5318760"/>
          </a:xfrm>
          <a:prstGeom prst="rect">
            <a:avLst/>
          </a:prstGeom>
          <a:noFill/>
          <a:ln w="9525">
            <a:noFill/>
          </a:ln>
        </p:spPr>
        <p:txBody>
          <a:bodyPr>
            <a:noAutofit/>
          </a:bodyPr>
          <a:p>
            <a:r>
              <a:rPr lang="en-US" altLang="en-US" sz="2000" b="1" dirty="0">
                <a:latin typeface="Times New Roman" panose="02020603050405020304" pitchFamily="18" charset="0"/>
                <a:cs typeface="Times New Roman" panose="02020603050405020304" pitchFamily="18" charset="0"/>
              </a:rPr>
              <a:t>Results Overview</a:t>
            </a:r>
            <a:r>
              <a:rPr lang="en-IN" altLang="en-US" sz="2000" b="1" dirty="0">
                <a:latin typeface="Calibri" panose="020F0502020204030204" pitchFamily="34" charset="0"/>
              </a:rPr>
              <a:t>:</a:t>
            </a:r>
            <a:endParaRPr lang="en-US" altLang="en-US" sz="2000" b="1" dirty="0">
              <a:latin typeface="Calibri" panose="020F0502020204030204" pitchFamily="34"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trained using RAVDESS dataset</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Successfully classified emotional patterns from audio data</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Emotions mapped to mental health indicators</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achieved reliable performance on test data</a:t>
            </a:r>
            <a:r>
              <a:rPr lang="en-IN" altLang="en-US" sz="2000" dirty="0">
                <a:latin typeface="Times New Roman" panose="02020603050405020304" pitchFamily="18" charset="0"/>
                <a:cs typeface="Times New Roman" panose="02020603050405020304" pitchFamily="18" charset="0"/>
              </a:rPr>
              <a:t>.</a:t>
            </a:r>
            <a:endParaRPr lang="en-IN" altLang="en-US" sz="2000" dirty="0">
              <a:latin typeface="Times New Roman" panose="02020603050405020304" pitchFamily="18" charset="0"/>
              <a:cs typeface="Times New Roman" panose="02020603050405020304" pitchFamily="18" charset="0"/>
            </a:endParaRPr>
          </a:p>
          <a:p>
            <a:endParaRPr lang="en-IN"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Performance Metrics</a:t>
            </a:r>
            <a:r>
              <a:rPr lang="en-IN"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Accuracy: 85%</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Precision: 83%</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Recall: 82%</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F1 Score: 84%</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Discussion &amp; Conclusion</a:t>
            </a:r>
            <a:endParaRPr lang="en-US" alt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shows promising results in mental health detection</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Contrastive learning enhances performance</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Suitable for early-stage mental health analysis</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Can be extended for real-world applications</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endParaRPr lang="en-IN" altLang="en-US" sz="2000" dirty="0">
              <a:latin typeface="Times New Roman" panose="02020603050405020304" pitchFamily="18" charset="0"/>
              <a:cs typeface="Times New Roman" panose="02020603050405020304" pitchFamily="18" charset="0"/>
            </a:endParaRPr>
          </a:p>
          <a:p>
            <a:endParaRPr lang="en-IN" altLang="en-US" sz="2000" dirty="0">
              <a:latin typeface="Times New Roman" panose="02020603050405020304" pitchFamily="18" charset="0"/>
              <a:cs typeface="Times New Roman" panose="02020603050405020304" pitchFamily="18" charset="0"/>
            </a:endParaRPr>
          </a:p>
        </p:txBody>
      </p:sp>
      <p:pic>
        <p:nvPicPr>
          <p:cNvPr id="14341"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6-03-26 095654"/>
          <p:cNvPicPr>
            <a:picLocks noChangeAspect="1"/>
          </p:cNvPicPr>
          <p:nvPr>
            <p:ph idx="1"/>
          </p:nvPr>
        </p:nvPicPr>
        <p:blipFill>
          <a:blip r:embed="rId1"/>
          <a:stretch>
            <a:fillRect/>
          </a:stretch>
        </p:blipFill>
        <p:spPr>
          <a:xfrm>
            <a:off x="899160" y="1052830"/>
            <a:ext cx="7372350" cy="5405755"/>
          </a:xfrm>
          <a:prstGeom prst="rect">
            <a:avLst/>
          </a:prstGeom>
        </p:spPr>
      </p:pic>
      <p:pic>
        <p:nvPicPr>
          <p:cNvPr id="12293" name="Picture 8"/>
          <p:cNvPicPr>
            <a:picLocks noChangeAspect="1"/>
          </p:cNvPicPr>
          <p:nvPr/>
        </p:nvPicPr>
        <p:blipFill>
          <a:blip r:embed="rId2"/>
          <a:srcRect t="25389" b="25044"/>
          <a:stretch>
            <a:fillRect/>
          </a:stretch>
        </p:blipFill>
        <p:spPr>
          <a:xfrm>
            <a:off x="7315200" y="0"/>
            <a:ext cx="1828800" cy="906463"/>
          </a:xfrm>
          <a:prstGeom prst="rect">
            <a:avLst/>
          </a:prstGeom>
          <a:noFill/>
          <a:ln w="9525">
            <a:noFill/>
          </a:ln>
        </p:spPr>
      </p:pic>
      <p:sp>
        <p:nvSpPr>
          <p:cNvPr id="5" name="Text Box 4"/>
          <p:cNvSpPr txBox="1"/>
          <p:nvPr/>
        </p:nvSpPr>
        <p:spPr>
          <a:xfrm>
            <a:off x="180340" y="26670"/>
            <a:ext cx="6254750" cy="935355"/>
          </a:xfrm>
          <a:prstGeom prst="rect">
            <a:avLst/>
          </a:prstGeom>
        </p:spPr>
        <p:txBody>
          <a:bodyPr>
            <a:noAutofit/>
            <a:extLst>
              <a:ext uri="{4A0BC546-FE56-4ADE-93B0-CB8AF2F6F144}">
                <wpsdc:textFrameExt xmlns:wpsdc="http://www.wps.cn/officeDocument/2022/drawingmlCustomData" type="title"/>
              </a:ext>
            </a:extLst>
          </a:bodyPr>
          <a:p>
            <a:pPr algn="l"/>
            <a:r>
              <a:rPr lang="en-IN" altLang="en-US" sz="2400" b="1" spc="400">
                <a:latin typeface="Times New Roman" panose="02020603050405020304" pitchFamily="18" charset="0"/>
                <a:ea typeface="Microsoft YaHei" panose="020B0503020204020204" charset="-122"/>
                <a:cs typeface="Times New Roman" panose="02020603050405020304" pitchFamily="18" charset="0"/>
              </a:rPr>
              <a:t>comprative study</a:t>
            </a:r>
            <a:endParaRPr lang="en-IN" altLang="en-US" sz="2400" b="1" spc="400">
              <a:latin typeface="Times New Roman" panose="02020603050405020304" pitchFamily="18" charset="0"/>
              <a:ea typeface="Microsoft YaHei" panose="020B050302020402020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485140"/>
            <a:ext cx="8229600" cy="5641340"/>
          </a:xfrm>
        </p:spPr>
        <p:txBody>
          <a:bodyPr/>
          <a:p>
            <a:pPr marL="0" indent="0">
              <a:buNone/>
            </a:pPr>
            <a:r>
              <a:rPr lang="en-IN" altLang="en-US"/>
              <a:t>Confusion matrix:</a:t>
            </a:r>
            <a:endParaRPr lang="en-IN" altLang="en-US"/>
          </a:p>
          <a:p>
            <a:pPr marL="0" indent="0">
              <a:buNone/>
            </a:pPr>
            <a:endParaRPr lang="en-IN" altLang="en-US"/>
          </a:p>
        </p:txBody>
      </p:sp>
      <p:pic>
        <p:nvPicPr>
          <p:cNvPr id="4" name="Picture 3"/>
          <p:cNvPicPr>
            <a:picLocks noChangeAspect="1"/>
          </p:cNvPicPr>
          <p:nvPr/>
        </p:nvPicPr>
        <p:blipFill>
          <a:blip r:embed="rId1"/>
          <a:stretch>
            <a:fillRect/>
          </a:stretch>
        </p:blipFill>
        <p:spPr>
          <a:xfrm>
            <a:off x="1025525" y="1031875"/>
            <a:ext cx="7341235" cy="5283835"/>
          </a:xfrm>
          <a:prstGeom prst="rect">
            <a:avLst/>
          </a:prstGeom>
        </p:spPr>
      </p:pic>
      <p:pic>
        <p:nvPicPr>
          <p:cNvPr id="12293" name="Picture 8"/>
          <p:cNvPicPr>
            <a:picLocks noChangeAspect="1"/>
          </p:cNvPicPr>
          <p:nvPr/>
        </p:nvPicPr>
        <p:blipFill>
          <a:blip r:embed="rId2"/>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08280" y="1481455"/>
            <a:ext cx="8478520" cy="4086225"/>
          </a:xfrm>
          <a:prstGeom prst="rect">
            <a:avLst/>
          </a:prstGeom>
        </p:spPr>
      </p:pic>
      <p:pic>
        <p:nvPicPr>
          <p:cNvPr id="12293" name="Picture 8"/>
          <p:cNvPicPr>
            <a:picLocks noChangeAspect="1"/>
          </p:cNvPicPr>
          <p:nvPr/>
        </p:nvPicPr>
        <p:blipFill>
          <a:blip r:embed="rId2"/>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46100" y="1059815"/>
            <a:ext cx="8065770" cy="5714365"/>
          </a:xfrm>
          <a:prstGeom prst="rect">
            <a:avLst/>
          </a:prstGeom>
        </p:spPr>
      </p:pic>
      <p:pic>
        <p:nvPicPr>
          <p:cNvPr id="12293" name="Picture 8"/>
          <p:cNvPicPr>
            <a:picLocks noChangeAspect="1"/>
          </p:cNvPicPr>
          <p:nvPr/>
        </p:nvPicPr>
        <p:blipFill>
          <a:blip r:embed="rId2"/>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777875"/>
          </a:xfrm>
        </p:spPr>
        <p:txBody>
          <a:bodyPr/>
          <a:p>
            <a:r>
              <a:rPr lang="en-IN" altLang="en-US"/>
              <a:t>Using Wav2Vec2</a:t>
            </a:r>
            <a:endParaRPr lang="en-IN" altLang="en-US"/>
          </a:p>
        </p:txBody>
      </p:sp>
      <p:pic>
        <p:nvPicPr>
          <p:cNvPr id="4" name="Content Placeholder 3" descr="ChatGPT Image Mar 30, 2026, 02_09_48 PM"/>
          <p:cNvPicPr>
            <a:picLocks noChangeAspect="1"/>
          </p:cNvPicPr>
          <p:nvPr>
            <p:ph idx="1"/>
          </p:nvPr>
        </p:nvPicPr>
        <p:blipFill>
          <a:blip r:embed="rId1"/>
          <a:stretch>
            <a:fillRect/>
          </a:stretch>
        </p:blipFill>
        <p:spPr>
          <a:xfrm>
            <a:off x="172720" y="1052830"/>
            <a:ext cx="8868410" cy="56419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5363"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Testing Strategy &amp; Validation</a:t>
            </a:r>
            <a:endParaRPr lang="en-US"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Results, Analysis &amp; Discussion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Conclusion</a:t>
            </a:r>
            <a:endParaRPr lang="en-IN"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
        <p:nvSpPr>
          <p:cNvPr id="15364"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5365"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p:txBody>
          <a:bodyPr vert="horz" wrap="square" lIns="91440" tIns="45720" rIns="91440" bIns="45720" anchor="ctr" anchorCtr="0"/>
          <a:p>
            <a:r>
              <a:rPr lang="en-IN" altLang="en-US" b="1" dirty="0">
                <a:latin typeface="Times New Roman" panose="02020603050405020304" pitchFamily="18" charset="0"/>
                <a:cs typeface="Times New Roman" panose="02020603050405020304" pitchFamily="18" charset="0"/>
              </a:rPr>
              <a:t>Conclusion</a:t>
            </a:r>
            <a:endParaRPr lang="en-IN" altLang="en-US" b="1" dirty="0">
              <a:latin typeface="Times New Roman" panose="02020603050405020304" pitchFamily="18" charset="0"/>
              <a:ea typeface="Times New Roman" panose="02020603050405020304" pitchFamily="18" charset="0"/>
            </a:endParaRPr>
          </a:p>
        </p:txBody>
      </p:sp>
      <p:sp>
        <p:nvSpPr>
          <p:cNvPr id="16387"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16389"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
        <p:nvSpPr>
          <p:cNvPr id="2" name="Text Box 1"/>
          <p:cNvSpPr txBox="1"/>
          <p:nvPr/>
        </p:nvSpPr>
        <p:spPr>
          <a:xfrm>
            <a:off x="758190" y="1536700"/>
            <a:ext cx="7300595" cy="4295775"/>
          </a:xfrm>
          <a:prstGeom prst="rect">
            <a:avLst/>
          </a:prstGeom>
          <a:noFill/>
        </p:spPr>
        <p:txBody>
          <a:bodyPr wrap="square" rtlCol="0" anchor="t">
            <a:noAutofit/>
          </a:bodyPr>
          <a:p>
            <a:pPr marL="0" lvl="0" indent="0" algn="just">
              <a:lnSpc>
                <a:spcPct val="150000"/>
              </a:lnSpc>
              <a:spcBef>
                <a:spcPct val="0"/>
              </a:spcBef>
              <a:buFont typeface="Wingdings" panose="05000000000000000000" pitchFamily="2" charset="2"/>
              <a:buNone/>
            </a:pPr>
            <a:r>
              <a:rPr lang="en-US" altLang="en-US" sz="2000" dirty="0">
                <a:latin typeface="Times New Roman" panose="02020603050405020304" pitchFamily="18" charset="0"/>
                <a:ea typeface="Times New Roman" panose="02020603050405020304" pitchFamily="18" charset="0"/>
                <a:sym typeface="+mn-ea"/>
              </a:rPr>
              <a:t>The project has made good progress, and the team is confident about completing it successfully. By using contrastive learning, the model is expected to improve the detection of mental disorders with better accuracy. The project can help in early diagnosis and support mental healthcare using AI.</a:t>
            </a:r>
            <a:endParaRPr lang="en-US" altLang="en-US" sz="2000" dirty="0">
              <a:latin typeface="Times New Roman" panose="02020603050405020304" pitchFamily="18" charset="0"/>
              <a:ea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7411"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Testing Strategy &amp; Validation</a:t>
            </a:r>
            <a:endParaRPr lang="en-US"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Results, Analysis &amp; Discussion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Conclusion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References</a:t>
            </a:r>
            <a:endParaRPr lang="en-IN" altLang="en-US" sz="2200" b="1" dirty="0">
              <a:latin typeface="Times New Roman" panose="02020603050405020304" pitchFamily="18" charset="0"/>
              <a:ea typeface="Times New Roman" panose="02020603050405020304" pitchFamily="18" charset="0"/>
            </a:endParaRPr>
          </a:p>
        </p:txBody>
      </p:sp>
      <p:sp>
        <p:nvSpPr>
          <p:cNvPr id="17412"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7413"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nvSpPr>
        <p:spPr>
          <a:xfrm>
            <a:off x="179388" y="873125"/>
            <a:ext cx="8929687" cy="624713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73025" lvl="0" indent="0">
              <a:buNone/>
            </a:pPr>
            <a:r>
              <a:rPr lang="en-IN" altLang="en-US" sz="2000">
                <a:latin typeface="Times New Roman" panose="02020603050405020304" pitchFamily="18" charset="0"/>
                <a:cs typeface="Times New Roman" panose="02020603050405020304" pitchFamily="18" charset="0"/>
                <a:sym typeface="+mn-ea"/>
              </a:rPr>
              <a:t>1. </a:t>
            </a:r>
            <a:r>
              <a:rPr lang="en-US" altLang="en-US" sz="2000">
                <a:latin typeface="Times New Roman" panose="02020603050405020304" pitchFamily="18" charset="0"/>
                <a:cs typeface="Times New Roman" panose="02020603050405020304" pitchFamily="18" charset="0"/>
                <a:sym typeface="+mn-ea"/>
              </a:rPr>
              <a:t>Devlin, J., Chang, M. W., Lee, K., &amp; Toutanova, K. (2019). BERT: Pre-training of deep bidirectional transformers for language understanding. Proceedings of NAACL-HLT.</a:t>
            </a:r>
            <a:endParaRPr lang="en-US" altLang="en-US" sz="2000">
              <a:latin typeface="Times New Roman" panose="02020603050405020304" pitchFamily="18" charset="0"/>
              <a:cs typeface="Times New Roman" panose="02020603050405020304" pitchFamily="18" charset="0"/>
            </a:endParaRPr>
          </a:p>
          <a:p>
            <a:pPr marL="73025" lvl="0" indent="0">
              <a:buNone/>
            </a:pPr>
            <a:endParaRPr lang="en-US" altLang="en-US" sz="2000">
              <a:latin typeface="Times New Roman" panose="02020603050405020304" pitchFamily="18" charset="0"/>
              <a:cs typeface="Times New Roman" panose="02020603050405020304" pitchFamily="18" charset="0"/>
            </a:endParaRPr>
          </a:p>
          <a:p>
            <a:pPr marL="73025" lvl="0" indent="0">
              <a:buNone/>
            </a:pPr>
            <a:r>
              <a:rPr lang="en-IN" altLang="en-US" sz="2000">
                <a:latin typeface="Times New Roman" panose="02020603050405020304" pitchFamily="18" charset="0"/>
                <a:cs typeface="Times New Roman" panose="02020603050405020304" pitchFamily="18" charset="0"/>
                <a:sym typeface="+mn-ea"/>
              </a:rPr>
              <a:t>2. </a:t>
            </a:r>
            <a:r>
              <a:rPr lang="en-US" altLang="en-US" sz="2000">
                <a:latin typeface="Times New Roman" panose="02020603050405020304" pitchFamily="18" charset="0"/>
                <a:cs typeface="Times New Roman" panose="02020603050405020304" pitchFamily="18" charset="0"/>
                <a:sym typeface="+mn-ea"/>
              </a:rPr>
              <a:t>Radford, A., Kim, J. W., Hallacy, C., et al. (2021). Learning transferable visual models from natural language supervision (CLIP). arXiv preprint arXiv:2103.00020.</a:t>
            </a:r>
            <a:endParaRPr lang="en-US" altLang="en-US" sz="2000">
              <a:latin typeface="Times New Roman" panose="02020603050405020304" pitchFamily="18" charset="0"/>
              <a:cs typeface="Times New Roman" panose="02020603050405020304" pitchFamily="18" charset="0"/>
            </a:endParaRPr>
          </a:p>
          <a:p>
            <a:pPr marL="73025" lvl="0" indent="0">
              <a:buNone/>
            </a:pPr>
            <a:endParaRPr lang="en-US" altLang="en-US" sz="2000">
              <a:latin typeface="Times New Roman" panose="02020603050405020304" pitchFamily="18" charset="0"/>
              <a:cs typeface="Times New Roman" panose="02020603050405020304" pitchFamily="18" charset="0"/>
            </a:endParaRPr>
          </a:p>
          <a:p>
            <a:pPr marL="73025" lvl="0" indent="0">
              <a:buNone/>
            </a:pPr>
            <a:r>
              <a:rPr lang="en-IN" altLang="en-US" sz="2000">
                <a:latin typeface="Times New Roman" panose="02020603050405020304" pitchFamily="18" charset="0"/>
                <a:cs typeface="Times New Roman" panose="02020603050405020304" pitchFamily="18" charset="0"/>
                <a:sym typeface="+mn-ea"/>
              </a:rPr>
              <a:t>3. </a:t>
            </a:r>
            <a:r>
              <a:rPr lang="en-US" altLang="en-US" sz="2000">
                <a:latin typeface="Times New Roman" panose="02020603050405020304" pitchFamily="18" charset="0"/>
                <a:cs typeface="Times New Roman" panose="02020603050405020304" pitchFamily="18" charset="0"/>
                <a:sym typeface="+mn-ea"/>
              </a:rPr>
              <a:t>Rejaibi, E., et al. (2022). A deep learning-based approach for detecting mental disorders from social media texts. IEEE Access, 10, 34756–34768.</a:t>
            </a:r>
            <a:endParaRPr lang="en-US" altLang="en-US" sz="2000">
              <a:latin typeface="Times New Roman" panose="02020603050405020304" pitchFamily="18" charset="0"/>
              <a:cs typeface="Times New Roman" panose="02020603050405020304" pitchFamily="18" charset="0"/>
            </a:endParaRPr>
          </a:p>
          <a:p>
            <a:pPr marL="73025" lvl="0" indent="0">
              <a:buNone/>
            </a:pPr>
            <a:endParaRPr lang="en-US" altLang="en-US" sz="2000">
              <a:latin typeface="Times New Roman" panose="02020603050405020304" pitchFamily="18" charset="0"/>
              <a:cs typeface="Times New Roman" panose="02020603050405020304" pitchFamily="18" charset="0"/>
            </a:endParaRPr>
          </a:p>
          <a:p>
            <a:pPr marL="73025" lvl="0" indent="0">
              <a:buNone/>
            </a:pPr>
            <a:r>
              <a:rPr lang="en-IN" altLang="en-US" sz="2000">
                <a:latin typeface="Times New Roman" panose="02020603050405020304" pitchFamily="18" charset="0"/>
                <a:cs typeface="Times New Roman" panose="02020603050405020304" pitchFamily="18" charset="0"/>
                <a:sym typeface="+mn-ea"/>
              </a:rPr>
              <a:t>4. </a:t>
            </a:r>
            <a:r>
              <a:rPr lang="en-US" altLang="en-US" sz="2000">
                <a:latin typeface="Times New Roman" panose="02020603050405020304" pitchFamily="18" charset="0"/>
                <a:cs typeface="Times New Roman" panose="02020603050405020304" pitchFamily="18" charset="0"/>
                <a:sym typeface="+mn-ea"/>
              </a:rPr>
              <a:t>Yang, S., et al. (2020). Deep multimodal representation learning for mental disorder detection. Proceedings of the 28th ACM International Conference on Multimedia (ACM MM).</a:t>
            </a:r>
            <a:endParaRPr lang="en-US" altLang="en-US" sz="2000">
              <a:latin typeface="Times New Roman" panose="02020603050405020304" pitchFamily="18" charset="0"/>
              <a:cs typeface="Times New Roman" panose="02020603050405020304" pitchFamily="18" charset="0"/>
            </a:endParaRPr>
          </a:p>
          <a:p>
            <a:pPr marL="73025" lvl="0" indent="0">
              <a:buNone/>
            </a:pPr>
            <a:endParaRPr lang="en-US" altLang="en-US" sz="2000">
              <a:latin typeface="Times New Roman" panose="02020603050405020304" pitchFamily="18" charset="0"/>
              <a:cs typeface="Times New Roman" panose="02020603050405020304" pitchFamily="18" charset="0"/>
            </a:endParaRPr>
          </a:p>
          <a:p>
            <a:pPr marL="73025" lvl="0" indent="0">
              <a:buNone/>
            </a:pPr>
            <a:r>
              <a:rPr lang="en-IN" altLang="en-US" sz="2000">
                <a:latin typeface="Times New Roman" panose="02020603050405020304" pitchFamily="18" charset="0"/>
                <a:cs typeface="Times New Roman" panose="02020603050405020304" pitchFamily="18" charset="0"/>
                <a:sym typeface="+mn-ea"/>
              </a:rPr>
              <a:t>5. </a:t>
            </a:r>
            <a:r>
              <a:rPr lang="en-US" altLang="en-US" sz="2000">
                <a:latin typeface="Times New Roman" panose="02020603050405020304" pitchFamily="18" charset="0"/>
                <a:cs typeface="Times New Roman" panose="02020603050405020304" pitchFamily="18" charset="0"/>
                <a:sym typeface="+mn-ea"/>
              </a:rPr>
              <a:t>Li, Y., et al. (2023). Contrastive learning for multimodal mental health analysis. Pattern Recognition Letters, 165, 96–104.</a:t>
            </a:r>
            <a:endParaRPr lang="en-US" altLang="en-US" sz="2000">
              <a:latin typeface="Times New Roman" panose="02020603050405020304" pitchFamily="18" charset="0"/>
              <a:cs typeface="Times New Roman" panose="02020603050405020304" pitchFamily="18" charset="0"/>
            </a:endParaRPr>
          </a:p>
          <a:p>
            <a:pPr marL="73025" lvl="0" indent="0">
              <a:buNone/>
            </a:pPr>
            <a:endParaRPr lang="en-US" altLang="en-US" sz="2000">
              <a:latin typeface="Times New Roman" panose="02020603050405020304" pitchFamily="18" charset="0"/>
              <a:cs typeface="Times New Roman" panose="02020603050405020304" pitchFamily="18" charset="0"/>
            </a:endParaRPr>
          </a:p>
          <a:p>
            <a:pPr marL="73025" lvl="0" indent="0">
              <a:buNone/>
            </a:pPr>
            <a:endParaRPr lang="en-IN" altLang="en-US" sz="2000" dirty="0">
              <a:latin typeface="Times New Roman" panose="02020603050405020304" pitchFamily="18" charset="0"/>
              <a:ea typeface="Times New Roman" panose="02020603050405020304" pitchFamily="18" charset="0"/>
            </a:endParaRPr>
          </a:p>
        </p:txBody>
      </p:sp>
      <p:sp>
        <p:nvSpPr>
          <p:cNvPr id="18435" name="Rectangle 3"/>
          <p:cNvSpPr/>
          <p:nvPr/>
        </p:nvSpPr>
        <p:spPr>
          <a:xfrm>
            <a:off x="3711575" y="269875"/>
            <a:ext cx="1614488"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b="1" dirty="0">
                <a:latin typeface="Times New Roman" panose="02020603050405020304" pitchFamily="18" charset="0"/>
                <a:cs typeface="Times New Roman" panose="02020603050405020304" pitchFamily="18" charset="0"/>
              </a:rPr>
              <a:t>References</a:t>
            </a:r>
            <a:endParaRPr lang="en-IN" altLang="en-US" sz="2400" b="1" dirty="0">
              <a:latin typeface="Times New Roman" panose="02020603050405020304" pitchFamily="18" charset="0"/>
              <a:ea typeface="Times New Roman" panose="02020603050405020304" pitchFamily="18" charset="0"/>
            </a:endParaRPr>
          </a:p>
        </p:txBody>
      </p:sp>
      <p:pic>
        <p:nvPicPr>
          <p:cNvPr id="18436" name="Picture 8"/>
          <p:cNvPicPr>
            <a:picLocks noChangeAspect="1"/>
          </p:cNvPicPr>
          <p:nvPr/>
        </p:nvPicPr>
        <p:blipFill>
          <a:blip r:embed="rId1"/>
          <a:srcRect t="25389" b="25044"/>
          <a:stretch>
            <a:fillRect/>
          </a:stretch>
        </p:blipFill>
        <p:spPr>
          <a:xfrm>
            <a:off x="7315200" y="0"/>
            <a:ext cx="1828800" cy="906463"/>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4970" y="812800"/>
            <a:ext cx="8229600" cy="5924550"/>
          </a:xfrm>
        </p:spPr>
        <p:txBody>
          <a:bodyPr/>
          <a:p>
            <a:pPr marL="0" indent="0">
              <a:buNone/>
            </a:pPr>
            <a:r>
              <a:rPr lang="en-IN" altLang="en-US" sz="2000">
                <a:latin typeface="Times New Roman" panose="02020603050405020304" pitchFamily="18" charset="0"/>
                <a:cs typeface="Times New Roman" panose="02020603050405020304" pitchFamily="18" charset="0"/>
                <a:sym typeface="+mn-ea"/>
              </a:rPr>
              <a:t>6. </a:t>
            </a:r>
            <a:r>
              <a:rPr lang="en-US" altLang="en-US" sz="2000">
                <a:latin typeface="Times New Roman" panose="02020603050405020304" pitchFamily="18" charset="0"/>
                <a:cs typeface="Times New Roman" panose="02020603050405020304" pitchFamily="18" charset="0"/>
                <a:sym typeface="+mn-ea"/>
              </a:rPr>
              <a:t>Kingma, D. P., &amp; Ba, J. (2015). Adam: A method for stochastic optimization. International Conference on Learning Representations (ICLR).</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7. </a:t>
            </a:r>
            <a:r>
              <a:rPr lang="en-US" altLang="en-US" sz="2000">
                <a:latin typeface="Times New Roman" panose="02020603050405020304" pitchFamily="18" charset="0"/>
                <a:cs typeface="Times New Roman" panose="02020603050405020304" pitchFamily="18" charset="0"/>
                <a:sym typeface="+mn-ea"/>
              </a:rPr>
              <a:t>Mikolov, T., Sutskever, I., Chen, K., Corrado, G. S., &amp; Dean, J. (2013). Distributed representations of words and phrases and their compositionality. Advances in Neural Information Processing Systems (NeurIPS).</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8. </a:t>
            </a:r>
            <a:r>
              <a:rPr lang="en-US" altLang="en-US" sz="2000">
                <a:latin typeface="Times New Roman" panose="02020603050405020304" pitchFamily="18" charset="0"/>
                <a:cs typeface="Times New Roman" panose="02020603050405020304" pitchFamily="18" charset="0"/>
                <a:sym typeface="+mn-ea"/>
              </a:rPr>
              <a:t>Tadesse, M. M., Lin, H., Xu, B., &amp; Yang, L. (2019). Detection of depression-related posts in Reddit social media forum. IEEE Access, 7, 44883–44893.</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9. </a:t>
            </a:r>
            <a:r>
              <a:rPr lang="en-US" altLang="en-US" sz="2000">
                <a:latin typeface="Times New Roman" panose="02020603050405020304" pitchFamily="18" charset="0"/>
                <a:cs typeface="Times New Roman" panose="02020603050405020304" pitchFamily="18" charset="0"/>
                <a:sym typeface="+mn-ea"/>
              </a:rPr>
              <a:t>Wang, Y., et al. (2022). Multimodal deep learning for mental health prediction: A systematic review. Journal of Biomedical Informatics, 130, 104062.</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10. </a:t>
            </a:r>
            <a:r>
              <a:rPr lang="en-US" altLang="en-US" sz="2000">
                <a:latin typeface="Times New Roman" panose="02020603050405020304" pitchFamily="18" charset="0"/>
                <a:cs typeface="Times New Roman" panose="02020603050405020304" pitchFamily="18" charset="0"/>
                <a:sym typeface="+mn-ea"/>
              </a:rPr>
              <a:t>OpenAI. (2023). Contrastive learning and representation techniques for emotion and mental health detection. </a:t>
            </a:r>
            <a:endParaRPr lang="en-US" sz="2000"/>
          </a:p>
        </p:txBody>
      </p:sp>
      <p:pic>
        <p:nvPicPr>
          <p:cNvPr id="12293" name="Picture 8"/>
          <p:cNvPicPr>
            <a:picLocks noChangeAspect="1"/>
          </p:cNvPicPr>
          <p:nvPr/>
        </p:nvPicPr>
        <p:blipFill>
          <a:blip r:embed="rId1"/>
          <a:srcRect t="25389" b="25044"/>
          <a:stretch>
            <a:fillRect/>
          </a:stretch>
        </p:blipFill>
        <p:spPr>
          <a:xfrm>
            <a:off x="7236460" y="-27305"/>
            <a:ext cx="1828800" cy="906463"/>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6740</Words>
  <Application>WPS Presentation</Application>
  <PresentationFormat>On-screen Show (4:3)</PresentationFormat>
  <Paragraphs>255</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22</vt:i4>
      </vt:variant>
    </vt:vector>
  </HeadingPairs>
  <TitlesOfParts>
    <vt:vector size="32" baseType="lpstr">
      <vt:lpstr>Arial</vt:lpstr>
      <vt:lpstr>SimSun</vt:lpstr>
      <vt:lpstr>Wingdings</vt:lpstr>
      <vt:lpstr>Calibri</vt:lpstr>
      <vt:lpstr>Times New Roman</vt:lpstr>
      <vt:lpstr>Microsoft YaHei</vt:lpstr>
      <vt:lpstr>Arial Unicode MS</vt:lpstr>
      <vt:lpstr>Office Theme</vt:lpstr>
      <vt:lpstr>1_Office Theme</vt:lpstr>
      <vt:lpstr>2_Office Theme</vt:lpstr>
      <vt:lpstr>Capstone Project – Final:  Review – 2 on DISCOVERING MENTAL DISORDERS LEVERAGING CONTRASTIVE LEARNING</vt:lpstr>
      <vt:lpstr>CONTENTS</vt:lpstr>
      <vt:lpstr>Problem Statement</vt:lpstr>
      <vt:lpstr>Objectives</vt:lpstr>
      <vt:lpstr>Design Strategy</vt:lpstr>
      <vt:lpstr>Feedback from Guide/Reviewers and actions taken after Capstone Project Final Review–1</vt:lpstr>
      <vt:lpstr>CONTENTS</vt:lpstr>
      <vt:lpstr>Testing Strategy &amp; Validation</vt:lpstr>
      <vt:lpstr>PowerPoint 演示文稿</vt:lpstr>
      <vt:lpstr>PowerPoint 演示文稿</vt:lpstr>
      <vt:lpstr>CONTENTS</vt:lpstr>
      <vt:lpstr>Results, Analysis &amp; Discussion</vt:lpstr>
      <vt:lpstr>PowerPoint 演示文稿</vt:lpstr>
      <vt:lpstr>PowerPoint 演示文稿</vt:lpstr>
      <vt:lpstr>PowerPoint 演示文稿</vt:lpstr>
      <vt:lpstr>PowerPoint 演示文稿</vt:lpstr>
      <vt:lpstr>PowerPoint 演示文稿</vt:lpstr>
      <vt:lpstr>CONTENTS</vt:lpstr>
      <vt:lpstr>Conclusion</vt:lpstr>
      <vt:lpstr>CONTENTS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Sashank</cp:lastModifiedBy>
  <cp:revision>48</cp:revision>
  <dcterms:created xsi:type="dcterms:W3CDTF">2024-09-06T03:49:00Z</dcterms:created>
  <dcterms:modified xsi:type="dcterms:W3CDTF">2026-03-30T08:41:46Z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41B1C538D61942C19203CD8C300277DB_13</vt:lpwstr>
  </property>
</Properties>
</file>