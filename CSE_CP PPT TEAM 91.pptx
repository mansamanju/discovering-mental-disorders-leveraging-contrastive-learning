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 id="2147483672" r:id="rId4"/>
  </p:sldMasterIdLst>
  <p:notesMasterIdLst>
    <p:notesMasterId r:id="rId23"/>
  </p:notesMasterIdLst>
  <p:sldIdLst>
    <p:sldId id="266" r:id="rId5"/>
    <p:sldId id="267" r:id="rId6"/>
    <p:sldId id="277" r:id="rId7"/>
    <p:sldId id="279" r:id="rId8"/>
    <p:sldId id="285" r:id="rId9"/>
    <p:sldId id="289" r:id="rId10"/>
    <p:sldId id="290" r:id="rId11"/>
    <p:sldId id="300" r:id="rId12"/>
    <p:sldId id="301" r:id="rId13"/>
    <p:sldId id="298" r:id="rId14"/>
    <p:sldId id="302" r:id="rId15"/>
    <p:sldId id="304" r:id="rId16"/>
    <p:sldId id="308" r:id="rId17"/>
    <p:sldId id="305" r:id="rId18"/>
    <p:sldId id="287" r:id="rId19"/>
    <p:sldId id="306" r:id="rId20"/>
    <p:sldId id="270" r:id="rId21"/>
    <p:sldId id="307" r:id="rId22"/>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226"/>
    <p:restoredTop sz="94660"/>
  </p:normalViewPr>
  <p:slideViewPr>
    <p:cSldViewPr showGuides="1">
      <p:cViewPr varScale="1">
        <p:scale>
          <a:sx n="68" d="100"/>
          <a:sy n="68" d="100"/>
        </p:scale>
        <p:origin x="129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5EE2BC4-D53E-49D4-A981-6745D66DBBA4}"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6438887-3C79-4269-8267-A55F17F1FE7D}" type="slidenum">
              <a:rPr kumimoji="0" lang="en-IN"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3831D63-5DA4-494C-AEEC-BAD047DA66E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FB0832B-70DD-4CEE-9DC3-B4BFB7F75D54}"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4FEB78B-88E6-4701-9F50-E46C9958F9CF}"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4DE4B90-BC7E-4F48-83EF-ED23A7BAD918}"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BA22159B-5E9C-4F61-ADF8-58A51E0108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59C8BB1-6732-4F54-8B8A-EC790A68C2E2}"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a:xfrm>
            <a:off x="239713" y="747713"/>
            <a:ext cx="8580437" cy="1457325"/>
          </a:xfrm>
        </p:spPr>
        <p:txBody>
          <a:bodyPr vert="horz" wrap="square" lIns="91440" tIns="45720" rIns="91440" bIns="45720" anchor="ctr" anchorCtr="0"/>
          <a:p>
            <a:pPr eaLnBrk="1" hangingPunct="1"/>
            <a:r>
              <a:rPr lang="en-IN" altLang="en-US" sz="2000" dirty="0">
                <a:latin typeface="Times New Roman" panose="02020603050405020304" pitchFamily="18" charset="0"/>
                <a:cs typeface="Times New Roman" panose="02020603050405020304" pitchFamily="18" charset="0"/>
              </a:rPr>
              <a:t>Capstone Project – Final:  Review – 1 on</a:t>
            </a:r>
            <a:br>
              <a:rPr lang="en-IN" altLang="en-US" sz="3200" b="1" dirty="0">
                <a:latin typeface="Times New Roman" panose="02020603050405020304" pitchFamily="18" charset="0"/>
                <a:cs typeface="Times New Roman" panose="02020603050405020304" pitchFamily="18" charset="0"/>
              </a:rPr>
            </a:br>
            <a:r>
              <a:rPr lang="en-IN" altLang="en-US" sz="2800" b="1" dirty="0">
                <a:latin typeface="Times New Roman" panose="02020603050405020304" pitchFamily="18" charset="0"/>
                <a:cs typeface="Times New Roman" panose="02020603050405020304" pitchFamily="18" charset="0"/>
              </a:rPr>
              <a:t>DISCOVERING MENTAL DISORDERS AND LEVERAGING CONTRASTIVE LEARNING</a:t>
            </a:r>
            <a:endParaRPr lang="en-IN" altLang="en-US" sz="2800" b="1"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411413" y="4508500"/>
            <a:ext cx="4105275" cy="1222375"/>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Under the Guidance of</a:t>
            </a:r>
            <a:endParaRPr kumimoji="0" lang="en-IN" sz="20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Dr.Chintoo Kumar</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alt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rPr>
              <a:t>Assistant Professor</a:t>
            </a:r>
            <a:endParaRPr kumimoji="0" lang="en-IN" alt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p:txBody>
      </p:sp>
      <p:sp>
        <p:nvSpPr>
          <p:cNvPr id="4100" name="TextBox 4"/>
          <p:cNvSpPr txBox="1">
            <a:spLocks noChangeArrowheads="1"/>
          </p:cNvSpPr>
          <p:nvPr/>
        </p:nvSpPr>
        <p:spPr bwMode="auto">
          <a:xfrm>
            <a:off x="84138" y="2420938"/>
            <a:ext cx="8375650" cy="1945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anose="020F0502020204030204" pitchFamily="34" charset="0"/>
              </a:defRPr>
            </a:lvl1pPr>
            <a:lvl2pPr>
              <a:defRPr sz="2800">
                <a:solidFill>
                  <a:schemeClr val="tx1"/>
                </a:solidFill>
                <a:latin typeface="Calibri" panose="020F0502020204030204" pitchFamily="34" charset="0"/>
              </a:defRPr>
            </a:lvl2pPr>
            <a:lvl3pPr>
              <a:defRPr sz="24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6pPr>
            <a:lvl7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7pPr>
            <a:lvl8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8pPr>
            <a:lvl9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Presented by the Batch No. : CSE-91</a:t>
            </a:r>
            <a:endParaRPr kumimoji="0" lang="en-I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0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V.SHEELA MADHURI</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BU22CSEN0101860</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(TL)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MONICA R</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BU22CSEN0102297</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it-IT"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it-IT"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MANASA M</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BU22CSEN0102305</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it-IT"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it-IT"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SINDHURA S</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BU22CSEN0102308</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125" name="Rectangle 11"/>
          <p:cNvSpPr/>
          <p:nvPr/>
        </p:nvSpPr>
        <p:spPr>
          <a:xfrm>
            <a:off x="539750" y="5732463"/>
            <a:ext cx="8280400" cy="10160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IN" altLang="en-US" sz="2000" b="1" dirty="0">
                <a:solidFill>
                  <a:srgbClr val="000099"/>
                </a:solidFill>
                <a:latin typeface="Times New Roman" panose="02020603050405020304" pitchFamily="18" charset="0"/>
                <a:cs typeface="Times New Roman" panose="02020603050405020304" pitchFamily="18" charset="0"/>
              </a:rPr>
              <a:t>Department of Computer Science and Engineering</a:t>
            </a:r>
            <a:endParaRPr lang="en-IN" altLang="en-US" sz="2000" b="1" dirty="0">
              <a:solidFill>
                <a:srgbClr val="000099"/>
              </a:solidFill>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GITAM School of CSE, GITAM (Deemed to be University),</a:t>
            </a:r>
            <a:endParaRPr lang="en-US" altLang="en-US" sz="2000" dirty="0">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Bengaluru, Karnataka, INDIA.</a:t>
            </a:r>
            <a:endParaRPr lang="en-IN" altLang="en-US" sz="2000" b="1" dirty="0">
              <a:solidFill>
                <a:srgbClr val="000099"/>
              </a:solidFill>
              <a:latin typeface="Times New Roman" panose="02020603050405020304" pitchFamily="18" charset="0"/>
              <a:ea typeface="Times New Roman" panose="02020603050405020304" pitchFamily="18" charset="0"/>
            </a:endParaRPr>
          </a:p>
        </p:txBody>
      </p:sp>
      <p:pic>
        <p:nvPicPr>
          <p:cNvPr id="5126"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6147"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Introduction Review-2</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Review–2</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Methodology/Algorithms</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Status of Implementation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Conclusion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
        <p:nvSpPr>
          <p:cNvPr id="6148"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6149"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Problem Statement</a:t>
            </a:r>
            <a:endParaRPr lang="en-IN" altLang="en-US" sz="2800" b="1" dirty="0">
              <a:latin typeface="Times New Roman" panose="02020603050405020304" pitchFamily="18" charset="0"/>
              <a:ea typeface="Times New Roman" panose="02020603050405020304" pitchFamily="18" charset="0"/>
            </a:endParaRPr>
          </a:p>
        </p:txBody>
      </p:sp>
      <p:sp>
        <p:nvSpPr>
          <p:cNvPr id="7171" name="Content Placeholder 2"/>
          <p:cNvSpPr>
            <a:spLocks noGrp="1"/>
          </p:cNvSpPr>
          <p:nvPr>
            <p:ph idx="1"/>
          </p:nvPr>
        </p:nvSpPr>
        <p:spPr/>
        <p:txBody>
          <a:bodyPr vert="horz" wrap="square" lIns="91440" tIns="45720" rIns="91440" bIns="45720" anchor="t" anchorCtr="0"/>
          <a:p>
            <a:pPr marL="0" indent="0" algn="just">
              <a:lnSpc>
                <a:spcPct val="150000"/>
              </a:lnSpc>
              <a:buNone/>
            </a:pPr>
            <a:r>
              <a:rPr lang="en-US" sz="2000" dirty="0">
                <a:latin typeface="Times New Roman" panose="02020603050405020304" pitchFamily="18" charset="0"/>
                <a:cs typeface="Times New Roman" panose="02020603050405020304" pitchFamily="18" charset="0"/>
                <a:sym typeface="+mn-ea"/>
              </a:rPr>
              <a:t>Mental disorders remain underdiagnosed due to stigma and lack of accessible tools.Existing solutions depend on questionnaires or small datasets.</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dirty="0">
                <a:latin typeface="Times New Roman" panose="02020603050405020304" pitchFamily="18" charset="0"/>
                <a:cs typeface="Times New Roman" panose="02020603050405020304" pitchFamily="18" charset="0"/>
                <a:sym typeface="+mn-ea"/>
              </a:rPr>
              <a:t>Challenge: Build a scalable, accurate, and ethical detection system.</a:t>
            </a:r>
            <a:endParaRPr lang="en-IN" altLang="en-US" sz="2000" dirty="0"/>
          </a:p>
        </p:txBody>
      </p:sp>
      <p:sp>
        <p:nvSpPr>
          <p:cNvPr id="7172"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7173"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Objectives</a:t>
            </a:r>
            <a:endParaRPr lang="en-IN" altLang="en-US" sz="2800" b="1" dirty="0">
              <a:latin typeface="Times New Roman" panose="02020603050405020304" pitchFamily="18" charset="0"/>
              <a:ea typeface="Times New Roman" panose="02020603050405020304" pitchFamily="18" charset="0"/>
            </a:endParaRPr>
          </a:p>
        </p:txBody>
      </p:sp>
      <p:sp>
        <p:nvSpPr>
          <p:cNvPr id="8195" name="Content Placeholder 2"/>
          <p:cNvSpPr>
            <a:spLocks noGrp="1"/>
          </p:cNvSpPr>
          <p:nvPr>
            <p:ph idx="1"/>
          </p:nvPr>
        </p:nvSpPr>
        <p:spPr/>
        <p:txBody>
          <a:bodyPr vert="horz" wrap="square" lIns="91440" tIns="45720" rIns="91440" bIns="45720" anchor="t" anchorCtr="0"/>
          <a:p>
            <a:pPr algn="l" eaLnBrk="1" hangingPunct="1">
              <a:spcBef>
                <a:spcPct val="0"/>
              </a:spcBef>
              <a:buFontTx/>
              <a:buNone/>
            </a:pPr>
            <a:r>
              <a:rPr lang="en-IN" altLang="en-US" sz="2000" dirty="0">
                <a:ln>
                  <a:noFill/>
                </a:ln>
                <a:effectLst/>
                <a:latin typeface="Times New Roman" panose="02020603050405020304" pitchFamily="18" charset="0"/>
                <a:cs typeface="Times New Roman" panose="02020603050405020304" pitchFamily="18" charset="0"/>
                <a:sym typeface="+mn-ea"/>
              </a:rPr>
              <a:t>      </a:t>
            </a:r>
            <a:r>
              <a:rPr lang="en-US" altLang="en-US" sz="2000" dirty="0">
                <a:ln>
                  <a:noFill/>
                </a:ln>
                <a:effectLst/>
                <a:latin typeface="Times New Roman" panose="02020603050405020304" pitchFamily="18" charset="0"/>
                <a:cs typeface="Times New Roman" panose="02020603050405020304" pitchFamily="18" charset="0"/>
                <a:sym typeface="+mn-ea"/>
              </a:rPr>
              <a:t>Identify relevant datasets (surveys, clinical, social media).Apply ML/</a:t>
            </a:r>
            <a:r>
              <a:rPr lang="en-IN" altLang="en-US" sz="2000" dirty="0">
                <a:ln>
                  <a:noFill/>
                </a:ln>
                <a:effectLst/>
                <a:latin typeface="Times New Roman" panose="02020603050405020304" pitchFamily="18" charset="0"/>
                <a:cs typeface="Times New Roman" panose="02020603050405020304" pitchFamily="18" charset="0"/>
                <a:sym typeface="+mn-ea"/>
              </a:rPr>
              <a:t>DL </a:t>
            </a:r>
            <a:r>
              <a:rPr lang="en-US" altLang="en-US" sz="2000" dirty="0">
                <a:ln>
                  <a:noFill/>
                </a:ln>
                <a:effectLst/>
                <a:latin typeface="Times New Roman" panose="02020603050405020304" pitchFamily="18" charset="0"/>
                <a:cs typeface="Times New Roman" panose="02020603050405020304" pitchFamily="18" charset="0"/>
                <a:sym typeface="+mn-ea"/>
              </a:rPr>
              <a:t>techniques for classification (depression, anxiety, bipolar, etc.)</a:t>
            </a:r>
            <a:r>
              <a:rPr lang="en-IN" altLang="en-US" sz="2000" dirty="0">
                <a:ln>
                  <a:noFill/>
                </a:ln>
                <a:effectLst/>
                <a:latin typeface="Times New Roman" panose="02020603050405020304" pitchFamily="18" charset="0"/>
                <a:cs typeface="Times New Roman" panose="02020603050405020304" pitchFamily="18" charset="0"/>
                <a:sym typeface="+mn-ea"/>
              </a:rPr>
              <a:t>.</a:t>
            </a:r>
            <a:r>
              <a:rPr lang="en-US" altLang="en-US" sz="2000" dirty="0">
                <a:ln>
                  <a:noFill/>
                </a:ln>
                <a:effectLst/>
                <a:latin typeface="Times New Roman" panose="02020603050405020304" pitchFamily="18" charset="0"/>
                <a:cs typeface="Times New Roman" panose="02020603050405020304" pitchFamily="18" charset="0"/>
                <a:sym typeface="+mn-ea"/>
              </a:rPr>
              <a:t>Leverage study/learning-based analysis to recommend coping strategies.Develop a prototype system for testing.</a:t>
            </a:r>
            <a:endParaRPr lang="en-US" altLang="en-US" sz="2000" b="1" i="1" u="sng" dirty="0">
              <a:latin typeface="Times New Roman" panose="02020603050405020304" pitchFamily="18" charset="0"/>
              <a:ea typeface="Times New Roman" panose="02020603050405020304" pitchFamily="18" charset="0"/>
            </a:endParaRPr>
          </a:p>
        </p:txBody>
      </p:sp>
      <p:sp>
        <p:nvSpPr>
          <p:cNvPr id="8196"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8197"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457200" y="274955"/>
            <a:ext cx="8229600" cy="1167765"/>
          </a:xfrm>
        </p:spPr>
        <p:txBody>
          <a:bodyPr vert="horz" wrap="square" lIns="91440" tIns="45720" rIns="91440" bIns="45720" anchor="ctr" anchorCtr="0"/>
          <a:p>
            <a:r>
              <a:rPr lang="en-US" altLang="en-US" sz="2800" b="1" dirty="0">
                <a:latin typeface="Times New Roman" panose="02020603050405020304" pitchFamily="18" charset="0"/>
                <a:cs typeface="Times New Roman" panose="02020603050405020304" pitchFamily="18" charset="0"/>
              </a:rPr>
              <a:t>Design Strategy</a:t>
            </a:r>
            <a:endParaRPr lang="en-IN" altLang="en-US" sz="2800" dirty="0"/>
          </a:p>
        </p:txBody>
      </p:sp>
      <p:sp>
        <p:nvSpPr>
          <p:cNvPr id="9219"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9220" name="Rectangle 3"/>
          <p:cNvSpPr/>
          <p:nvPr/>
        </p:nvSpPr>
        <p:spPr>
          <a:xfrm>
            <a:off x="462915" y="1268730"/>
            <a:ext cx="5896610" cy="4013835"/>
          </a:xfrm>
          <a:prstGeom prst="rect">
            <a:avLst/>
          </a:prstGeom>
          <a:noFill/>
          <a:ln w="9525">
            <a:noFill/>
          </a:ln>
        </p:spPr>
        <p:txBody>
          <a:bodyPr wrap="none">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en-US" altLang="en-US" sz="2000" b="1" dirty="0">
                <a:latin typeface="Times New Roman" panose="02020603050405020304" pitchFamily="18" charset="0"/>
                <a:cs typeface="Times New Roman" panose="02020603050405020304" pitchFamily="18" charset="0"/>
              </a:rPr>
              <a:t>Project Workflow</a:t>
            </a:r>
            <a:r>
              <a:rPr lang="en-IN" altLang="en-US" sz="2000" b="1" dirty="0">
                <a:latin typeface="Times New Roman" panose="02020603050405020304" pitchFamily="18" charset="0"/>
                <a:cs typeface="Times New Roman" panose="02020603050405020304" pitchFamily="18" charset="0"/>
              </a:rPr>
              <a:t> </a:t>
            </a:r>
            <a:endParaRPr lang="en-IN" altLang="en-US" sz="2000" b="1" dirty="0">
              <a:latin typeface="Times New Roman" panose="02020603050405020304" pitchFamily="18" charset="0"/>
              <a:ea typeface="Arial" panose="020B0604020202020204" pitchFamily="34" charset="0"/>
              <a:cs typeface="Times New Roman" panose="02020603050405020304" pitchFamily="18" charset="0"/>
            </a:endParaRPr>
          </a:p>
        </p:txBody>
      </p:sp>
      <p:pic>
        <p:nvPicPr>
          <p:cNvPr id="9221"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pic>
        <p:nvPicPr>
          <p:cNvPr id="2" name="Picture 1" descr="Screenshot 2026-01-02 111022"/>
          <p:cNvPicPr>
            <a:picLocks noChangeAspect="1"/>
          </p:cNvPicPr>
          <p:nvPr/>
        </p:nvPicPr>
        <p:blipFill>
          <a:blip r:embed="rId2"/>
          <a:stretch>
            <a:fillRect/>
          </a:stretch>
        </p:blipFill>
        <p:spPr>
          <a:xfrm>
            <a:off x="683895" y="1690370"/>
            <a:ext cx="6853555" cy="4921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a:xfrm>
            <a:off x="323850" y="846138"/>
            <a:ext cx="8229600" cy="1143000"/>
          </a:xfrm>
        </p:spPr>
        <p:txBody>
          <a:bodyPr vert="horz" wrap="square" lIns="91440" tIns="45720" rIns="91440" bIns="45720" anchor="ctr" anchorCtr="0"/>
          <a:p>
            <a:r>
              <a:rPr lang="en-US" altLang="en-US" sz="2800" b="1" dirty="0">
                <a:latin typeface="Times New Roman" panose="02020603050405020304" pitchFamily="18" charset="0"/>
                <a:cs typeface="Times New Roman" panose="02020603050405020304" pitchFamily="18" charset="0"/>
              </a:rPr>
              <a:t>Feedback from Guide/Reviewers and actions taken after Review–2</a:t>
            </a:r>
            <a:endParaRPr lang="en-US" altLang="en-US" sz="2800" b="1" dirty="0">
              <a:latin typeface="Times New Roman" panose="02020603050405020304" pitchFamily="18" charset="0"/>
              <a:ea typeface="Times New Roman" panose="02020603050405020304" pitchFamily="18" charset="0"/>
            </a:endParaRPr>
          </a:p>
        </p:txBody>
      </p:sp>
      <p:sp>
        <p:nvSpPr>
          <p:cNvPr id="10244"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10245" name="Content Placeholder 2"/>
          <p:cNvSpPr txBox="1"/>
          <p:nvPr/>
        </p:nvSpPr>
        <p:spPr>
          <a:xfrm>
            <a:off x="539115" y="2132965"/>
            <a:ext cx="8229600" cy="232791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Feedback from Guide/Reviewers</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1. </a:t>
            </a:r>
            <a:r>
              <a:rPr lang="en-US" altLang="en-US" sz="2000" dirty="0">
                <a:latin typeface="Times New Roman" panose="02020603050405020304" pitchFamily="18" charset="0"/>
                <a:cs typeface="Times New Roman" panose="02020603050405020304" pitchFamily="18" charset="0"/>
              </a:rPr>
              <a:t>Dataset description was insufficient.</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2.</a:t>
            </a:r>
            <a:r>
              <a:rPr lang="en-IN"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Model architecture explanation needs improvement.</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Team participation during the presentation was uneven.</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Actions taken</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1. </a:t>
            </a:r>
            <a:r>
              <a:rPr lang="en-US" altLang="en-US" sz="2000" dirty="0">
                <a:latin typeface="Times New Roman" panose="02020603050405020304" pitchFamily="18" charset="0"/>
                <a:cs typeface="Times New Roman" panose="02020603050405020304" pitchFamily="18" charset="0"/>
              </a:rPr>
              <a:t>Detailed information about the dataset and preprocessing steps was added.</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The model architecture was clearly explained with a simple block diagram.</a:t>
            </a:r>
            <a:endParaRPr lang="en-US" altLang="en-US" sz="2000"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r>
              <a:rPr lang="en-US" altLang="en-US" sz="2000" b="1"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.Responsibilities were redistributed to ensure equal involvement of all team members</a:t>
            </a:r>
            <a:r>
              <a:rPr lang="en-US" altLang="en-US" sz="2000" b="1" dirty="0">
                <a:latin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342900" lvl="0" indent="-342900" eaLnBrk="1" hangingPunct="1">
              <a:spcBef>
                <a:spcPct val="0"/>
              </a:spcBef>
              <a:buFontTx/>
              <a:buNone/>
            </a:pPr>
            <a:endParaRPr lang="en-US" altLang="en-US" sz="2000" b="1" dirty="0">
              <a:latin typeface="Times New Roman" panose="02020603050405020304" pitchFamily="18" charset="0"/>
              <a:ea typeface="Times New Roman" panose="02020603050405020304" pitchFamily="18" charset="0"/>
            </a:endParaRPr>
          </a:p>
        </p:txBody>
      </p:sp>
      <p:pic>
        <p:nvPicPr>
          <p:cNvPr id="10246"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1267"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1268"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1269"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Introduction Review-2</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Review–2</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Methodology/Algorithms</a:t>
            </a:r>
            <a:endParaRPr lang="en-IN" altLang="en-US" sz="2200" b="1"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Status of Implementation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Conclusion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2291"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2292" name="Title 1"/>
          <p:cNvSpPr>
            <a:spLocks noGrp="1"/>
          </p:cNvSpPr>
          <p:nvPr>
            <p:ph type="title"/>
          </p:nvPr>
        </p:nvSpPr>
        <p:spPr>
          <a:xfrm>
            <a:off x="457200" y="-26035"/>
            <a:ext cx="8229600" cy="960755"/>
          </a:xfrm>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Methodology</a:t>
            </a:r>
            <a:endParaRPr lang="en-IN" altLang="en-US" sz="2800" b="1" dirty="0">
              <a:latin typeface="Times New Roman" panose="02020603050405020304" pitchFamily="18" charset="0"/>
              <a:ea typeface="Times New Roman" panose="02020603050405020304" pitchFamily="18" charset="0"/>
            </a:endParaRPr>
          </a:p>
        </p:txBody>
      </p:sp>
      <p:sp>
        <p:nvSpPr>
          <p:cNvPr id="2" name="Text Box 1"/>
          <p:cNvSpPr txBox="1"/>
          <p:nvPr/>
        </p:nvSpPr>
        <p:spPr>
          <a:xfrm>
            <a:off x="66040" y="631190"/>
            <a:ext cx="8552180" cy="6090285"/>
          </a:xfrm>
          <a:prstGeom prst="rect">
            <a:avLst/>
          </a:prstGeom>
          <a:noFill/>
        </p:spPr>
        <p:txBody>
          <a:bodyPr wrap="square" rtlCol="0">
            <a:noAutofit/>
          </a:bodyPr>
          <a:p>
            <a:r>
              <a:rPr lang="en-US" altLang="en-US" sz="2000" b="1">
                <a:latin typeface="Times New Roman" panose="02020603050405020304" pitchFamily="18" charset="0"/>
                <a:cs typeface="Times New Roman" panose="02020603050405020304" pitchFamily="18" charset="0"/>
              </a:rPr>
              <a:t>Data Collection</a:t>
            </a:r>
            <a:endParaRPr lang="en-US" altLang="en-US" sz="2000" b="1">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Mental health–related data is collected from reliable and relevant sources.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Data Preprocessing</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The data is cleaned, normalized, and prepared for model training.</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Feature Extraction</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Important features are extracted to represent mental health patterns effectively.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Contrastive Learning</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A contrastive learning model is used to learn meaningful and discriminative representations.</a:t>
            </a:r>
            <a:endParaRPr lang="en-US" altLang="en-US" sz="2000">
              <a:latin typeface="Times New Roman" panose="02020603050405020304" pitchFamily="18" charset="0"/>
              <a:cs typeface="Times New Roman" panose="02020603050405020304" pitchFamily="18" charset="0"/>
            </a:endParaRPr>
          </a:p>
          <a:p>
            <a:endParaRPr lang="en-US" altLang="en-US" sz="2000" b="1">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Model Training</a:t>
            </a:r>
            <a:endParaRPr lang="en-US" altLang="en-US" sz="2000" b="1">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The model is trained using contrastive loss to improve learning quality.</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Classification</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The learned representations are used to classify different mental disorders.</a:t>
            </a:r>
            <a:endParaRPr lang="en-US" altLang="en-US" sz="2000">
              <a:latin typeface="Times New Roman" panose="02020603050405020304" pitchFamily="18" charset="0"/>
              <a:cs typeface="Times New Roman" panose="02020603050405020304" pitchFamily="18" charset="0"/>
            </a:endParaRPr>
          </a:p>
          <a:p>
            <a:endParaRPr lang="en-US" altLang="en-US" sz="2000" b="1">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Evaluation</a:t>
            </a:r>
            <a:endParaRPr lang="en-US" altLang="en-US" sz="2000" b="1">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The model performance is measured using standard evaluation metrics.</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3315"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3316" name="Title 1"/>
          <p:cNvSpPr>
            <a:spLocks noGrp="1"/>
          </p:cNvSpPr>
          <p:nvPr>
            <p:ph type="title"/>
          </p:nvPr>
        </p:nvSpPr>
        <p:spPr>
          <a:xfrm>
            <a:off x="457200" y="198755"/>
            <a:ext cx="6277610" cy="828675"/>
          </a:xfrm>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Algorithm (s)</a:t>
            </a:r>
            <a:endParaRPr lang="en-IN" altLang="en-US" sz="2800" b="1" dirty="0">
              <a:latin typeface="Times New Roman" panose="02020603050405020304" pitchFamily="18" charset="0"/>
              <a:ea typeface="Times New Roman" panose="02020603050405020304" pitchFamily="18" charset="0"/>
            </a:endParaRPr>
          </a:p>
        </p:txBody>
      </p:sp>
      <p:sp>
        <p:nvSpPr>
          <p:cNvPr id="2" name="Text Box 1"/>
          <p:cNvSpPr txBox="1"/>
          <p:nvPr/>
        </p:nvSpPr>
        <p:spPr>
          <a:xfrm>
            <a:off x="323215" y="1027430"/>
            <a:ext cx="8295640" cy="5579745"/>
          </a:xfrm>
          <a:prstGeom prst="rect">
            <a:avLst/>
          </a:prstGeom>
          <a:noFill/>
        </p:spPr>
        <p:txBody>
          <a:bodyPr wrap="square" rtlCol="0">
            <a:noAutofit/>
          </a:bodyPr>
          <a:p>
            <a:r>
              <a:rPr lang="en-US" altLang="en-US" sz="2000" b="1">
                <a:latin typeface="Times New Roman" panose="02020603050405020304" pitchFamily="18" charset="0"/>
                <a:cs typeface="Times New Roman" panose="02020603050405020304" pitchFamily="18" charset="0"/>
              </a:rPr>
              <a:t>Contrastive Learning (SimCLR / Contrastive Loss)</a:t>
            </a:r>
            <a:endParaRPr lang="en-US" altLang="en-US" sz="2000"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Used to learn meaningful representations by bringing similar data closer and separating dissimilar data.</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Neural Networks (Deep Learning Model)</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Used to automatically learn complex patterns from mental health data.</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Convolutional Neural Network (CNN)</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Applied when using audio or image-based features to extract spatial patterns.</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Recurrent Neural Network (LSTM / GRU</a:t>
            </a:r>
            <a:r>
              <a:rPr lang="en-US"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Used for sequential data such as speech signals or time-series mental health data.</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Support Vector Machine (SVM)</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Used as a baseline classifier to compare performance with the proposed model.</a:t>
            </a:r>
            <a:endParaRPr lang="en-US" alt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Softmax Classifier </a:t>
            </a:r>
            <a:endParaRPr lang="en-US" altLang="en-US" sz="2000"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Classifies mental disorders into different categories.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4339"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434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4341"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Introduction Review-2</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Review–2</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Methodology/Algorithms</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Status of Implementation</a:t>
            </a:r>
            <a:endParaRPr lang="en-IN" altLang="en-US" sz="2200" b="1"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Conclusion</a:t>
            </a:r>
            <a:endParaRPr lang="en-IN" altLang="en-US" sz="2200" dirty="0">
              <a:solidFill>
                <a:srgbClr val="92D050"/>
              </a:solidFill>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rgbClr val="92D050"/>
                </a:solidFill>
                <a:latin typeface="Times New Roman" panose="02020603050405020304" pitchFamily="18" charset="0"/>
                <a:cs typeface="Times New Roman" panose="02020603050405020304" pitchFamily="18" charset="0"/>
              </a:rPr>
              <a:t>References</a:t>
            </a:r>
            <a:endParaRPr lang="en-IN" altLang="en-US" sz="2200" dirty="0">
              <a:solidFill>
                <a:srgbClr val="92D05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107950" y="160338"/>
            <a:ext cx="8229600" cy="1143000"/>
          </a:xfrm>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Status of Implementation</a:t>
            </a:r>
            <a:endParaRPr lang="en-IN" altLang="en-US" sz="2800" b="1" dirty="0">
              <a:latin typeface="Times New Roman" panose="02020603050405020304" pitchFamily="18" charset="0"/>
              <a:ea typeface="Times New Roman" panose="02020603050405020304" pitchFamily="18" charset="0"/>
            </a:endParaRPr>
          </a:p>
        </p:txBody>
      </p:sp>
      <p:pic>
        <p:nvPicPr>
          <p:cNvPr id="2" name="Content Placeholder 1" descr="Screenshot 2026-01-20 075256"/>
          <p:cNvPicPr>
            <a:picLocks noChangeAspect="1"/>
          </p:cNvPicPr>
          <p:nvPr>
            <p:ph idx="1"/>
          </p:nvPr>
        </p:nvPicPr>
        <p:blipFill>
          <a:blip r:embed="rId1"/>
          <a:stretch>
            <a:fillRect/>
          </a:stretch>
        </p:blipFill>
        <p:spPr>
          <a:xfrm>
            <a:off x="329565" y="1494155"/>
            <a:ext cx="8168640" cy="4303395"/>
          </a:xfrm>
          <a:prstGeom prst="rect">
            <a:avLst/>
          </a:prstGeom>
        </p:spPr>
      </p:pic>
      <p:sp>
        <p:nvSpPr>
          <p:cNvPr id="16388" name="Slide Number Placeholder 3"/>
          <p:cNvSpPr txBox="1">
            <a:spLocks noGrp="1"/>
          </p:cNvSpPr>
          <p:nvPr>
            <p:ph type="sldNum" sz="quarter" idx="12"/>
          </p:nvPr>
        </p:nvSpPr>
        <p:spPr>
          <a:xfrm>
            <a:off x="6553200" y="6499860"/>
            <a:ext cx="2133600" cy="365125"/>
          </a:xfrm>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16389" name="Picture 2" descr="D:\GITAM-GST-CSE\2024-25\Capstone-Project\GITAM-newlogo.jpeg"/>
          <p:cNvPicPr>
            <a:picLocks noChangeAspect="1"/>
          </p:cNvPicPr>
          <p:nvPr/>
        </p:nvPicPr>
        <p:blipFill>
          <a:blip r:embed="rId2"/>
          <a:stretch>
            <a:fillRect/>
          </a:stretch>
        </p:blipFill>
        <p:spPr>
          <a:xfrm>
            <a:off x="6804025" y="-26987"/>
            <a:ext cx="2339975" cy="96202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a:xfrm>
            <a:off x="107950" y="160338"/>
            <a:ext cx="8229600" cy="1143000"/>
          </a:xfrm>
        </p:spPr>
        <p:txBody>
          <a:bodyPr vert="horz" wrap="square" lIns="91440" tIns="45720" rIns="91440" bIns="45720" anchor="ctr" anchorCtr="0"/>
          <a:p>
            <a:r>
              <a:rPr lang="en-IN" altLang="en-US" sz="2800" b="1" dirty="0">
                <a:latin typeface="Times New Roman" panose="02020603050405020304" pitchFamily="18" charset="0"/>
                <a:cs typeface="Times New Roman" panose="02020603050405020304" pitchFamily="18" charset="0"/>
              </a:rPr>
              <a:t>Status of Implementation</a:t>
            </a:r>
            <a:endParaRPr lang="en-IN" altLang="en-US" sz="2800" b="1" dirty="0">
              <a:latin typeface="Times New Roman" panose="02020603050405020304" pitchFamily="18" charset="0"/>
              <a:ea typeface="Times New Roman" panose="02020603050405020304" pitchFamily="18" charset="0"/>
            </a:endParaRPr>
          </a:p>
        </p:txBody>
      </p:sp>
      <p:pic>
        <p:nvPicPr>
          <p:cNvPr id="2" name="Content Placeholder 1"/>
          <p:cNvPicPr>
            <a:picLocks noChangeAspect="1"/>
          </p:cNvPicPr>
          <p:nvPr>
            <p:ph idx="1"/>
          </p:nvPr>
        </p:nvPicPr>
        <p:blipFill>
          <a:blip r:embed="rId1"/>
          <a:stretch>
            <a:fillRect/>
          </a:stretch>
        </p:blipFill>
        <p:spPr>
          <a:xfrm>
            <a:off x="88900" y="1344930"/>
            <a:ext cx="8658225" cy="4967605"/>
          </a:xfrm>
          <a:prstGeom prst="rect">
            <a:avLst/>
          </a:prstGeom>
        </p:spPr>
      </p:pic>
      <p:sp>
        <p:nvSpPr>
          <p:cNvPr id="18436"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pic>
        <p:nvPicPr>
          <p:cNvPr id="18437" name="Picture 2" descr="D:\GITAM-GST-CSE\2024-25\Capstone-Project\GITAM-newlogo.jpeg"/>
          <p:cNvPicPr>
            <a:picLocks noChangeAspect="1"/>
          </p:cNvPicPr>
          <p:nvPr/>
        </p:nvPicPr>
        <p:blipFill>
          <a:blip r:embed="rId2"/>
          <a:stretch>
            <a:fillRect/>
          </a:stretch>
        </p:blipFill>
        <p:spPr>
          <a:xfrm>
            <a:off x="6804025" y="-26987"/>
            <a:ext cx="2339975" cy="96202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Status of  Implementation</a:t>
            </a:r>
            <a:endParaRPr lang="en-IN" altLang="en-US"/>
          </a:p>
        </p:txBody>
      </p:sp>
      <p:pic>
        <p:nvPicPr>
          <p:cNvPr id="4" name="Content Placeholder 3"/>
          <p:cNvPicPr>
            <a:picLocks noChangeAspect="1"/>
          </p:cNvPicPr>
          <p:nvPr>
            <p:ph idx="1"/>
          </p:nvPr>
        </p:nvPicPr>
        <p:blipFill>
          <a:blip r:embed="rId1"/>
          <a:stretch>
            <a:fillRect/>
          </a:stretch>
        </p:blipFill>
        <p:spPr>
          <a:xfrm>
            <a:off x="749935" y="1336675"/>
            <a:ext cx="7479665" cy="47713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19459"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946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19461" name="Content Placeholder 2"/>
          <p:cNvSpPr>
            <a:spLocks noGrp="1"/>
          </p:cNvSpPr>
          <p:nvPr>
            <p:ph idx="1"/>
          </p:nvPr>
        </p:nvSpPr>
        <p:spPr>
          <a:xfrm>
            <a:off x="107315" y="98044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Introduction Review-2</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Review–2</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Methodology/Algorithms</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IN" altLang="en-US" sz="2200" dirty="0">
                <a:latin typeface="Times New Roman" panose="02020603050405020304" pitchFamily="18" charset="0"/>
                <a:cs typeface="Times New Roman" panose="02020603050405020304" pitchFamily="18" charset="0"/>
              </a:rPr>
              <a:t>Status of Implementation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IN" altLang="en-US" sz="2200" b="1" dirty="0">
                <a:latin typeface="Times New Roman" panose="02020603050405020304" pitchFamily="18" charset="0"/>
                <a:cs typeface="Times New Roman" panose="02020603050405020304" pitchFamily="18" charset="0"/>
              </a:rPr>
              <a:t>Conclusion</a:t>
            </a:r>
            <a:endParaRPr lang="en-IN" altLang="en-US" sz="2200" b="1"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References</a:t>
            </a:r>
            <a:endParaRPr lang="en-US" altLang="en-US" sz="2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p:txBody>
          <a:bodyPr vert="horz" wrap="square" lIns="91440" tIns="45720" rIns="91440" bIns="45720" anchor="ctr" anchorCtr="0"/>
          <a:p>
            <a:r>
              <a:rPr lang="en-IN" altLang="en-US" b="1" dirty="0">
                <a:latin typeface="Times New Roman" panose="02020603050405020304" pitchFamily="18" charset="0"/>
                <a:cs typeface="Times New Roman" panose="02020603050405020304" pitchFamily="18" charset="0"/>
              </a:rPr>
              <a:t>Conclusion</a:t>
            </a:r>
            <a:endParaRPr lang="en-IN" altLang="en-US" b="1" dirty="0">
              <a:latin typeface="Times New Roman" panose="02020603050405020304" pitchFamily="18" charset="0"/>
              <a:ea typeface="Times New Roman" panose="02020603050405020304" pitchFamily="18" charset="0"/>
            </a:endParaRPr>
          </a:p>
        </p:txBody>
      </p:sp>
      <p:sp>
        <p:nvSpPr>
          <p:cNvPr id="20483"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20484" name="Rectangle 2"/>
          <p:cNvSpPr/>
          <p:nvPr/>
        </p:nvSpPr>
        <p:spPr>
          <a:xfrm>
            <a:off x="457200" y="1417638"/>
            <a:ext cx="6923088" cy="286131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nSpc>
                <a:spcPct val="150000"/>
              </a:lnSpc>
              <a:spcBef>
                <a:spcPct val="0"/>
              </a:spcBef>
              <a:buFont typeface="Wingdings" panose="05000000000000000000" pitchFamily="2" charset="2"/>
              <a:buNone/>
            </a:pPr>
            <a:r>
              <a:rPr lang="en-US" altLang="en-US" sz="2000" dirty="0">
                <a:latin typeface="Times New Roman" panose="02020603050405020304" pitchFamily="18" charset="0"/>
                <a:ea typeface="Times New Roman" panose="02020603050405020304" pitchFamily="18" charset="0"/>
              </a:rPr>
              <a:t>The project has made good progress, and the team is confident about completing it successfully. By using contrastive learning, the model is expected to improve the detection of mental disorders with better accuracy. The project can help in early diagnosis and support mental healthcare using AI.</a:t>
            </a:r>
            <a:endParaRPr lang="en-US" altLang="en-US" sz="2000" dirty="0">
              <a:latin typeface="Times New Roman" panose="02020603050405020304" pitchFamily="18" charset="0"/>
              <a:ea typeface="Times New Roman" panose="02020603050405020304" pitchFamily="18" charset="0"/>
            </a:endParaRPr>
          </a:p>
          <a:p>
            <a:pPr marL="0" lvl="0" indent="0">
              <a:lnSpc>
                <a:spcPct val="150000"/>
              </a:lnSpc>
              <a:spcBef>
                <a:spcPct val="0"/>
              </a:spcBef>
              <a:buFont typeface="Wingdings" panose="05000000000000000000" pitchFamily="2" charset="2"/>
              <a:buNone/>
            </a:pPr>
            <a:endParaRPr lang="en-US"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xfrm>
            <a:off x="250825" y="263525"/>
            <a:ext cx="5278438" cy="885825"/>
          </a:xfrm>
        </p:spPr>
        <p:txBody>
          <a:bodyPr vert="horz" wrap="square" lIns="91440" tIns="45720" rIns="91440" bIns="45720" anchor="ctr" anchorCtr="0"/>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endParaRPr lang="en-IN" altLang="en-US" sz="2800" b="1" dirty="0">
              <a:solidFill>
                <a:srgbClr val="0070C0"/>
              </a:solidFill>
              <a:latin typeface="Times New Roman" panose="02020603050405020304" pitchFamily="18" charset="0"/>
              <a:ea typeface="Times New Roman" panose="02020603050405020304" pitchFamily="18" charset="0"/>
            </a:endParaRPr>
          </a:p>
        </p:txBody>
      </p:sp>
      <p:sp>
        <p:nvSpPr>
          <p:cNvPr id="21507"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21508"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1509" name="Content Placeholder 2"/>
          <p:cNvSpPr>
            <a:spLocks noGrp="1"/>
          </p:cNvSpPr>
          <p:nvPr>
            <p:ph idx="1"/>
          </p:nvPr>
        </p:nvSpPr>
        <p:spPr>
          <a:xfrm>
            <a:off x="250825" y="1149350"/>
            <a:ext cx="8718550" cy="4519613"/>
          </a:xfrm>
        </p:spPr>
        <p:txBody>
          <a:bodyPr vert="horz" wrap="square" lIns="91440" tIns="45720" rIns="91440" bIns="45720" anchor="t" anchorCtr="0"/>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Introduction Review-2</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Review–2</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Methodology/Algorithms</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Status of Implementation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Conclusion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References</a:t>
            </a:r>
            <a:endParaRPr lang="en-IN" altLang="en-US" sz="2200" b="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30" name="Picture 2" descr="D:\GITAM-GST-CSE\2024-25\Capstone-Project\GITAM-newlogo.jpeg"/>
          <p:cNvPicPr>
            <a:picLocks noChangeAspect="1"/>
          </p:cNvPicPr>
          <p:nvPr/>
        </p:nvPicPr>
        <p:blipFill>
          <a:blip r:embed="rId1"/>
          <a:stretch>
            <a:fillRect/>
          </a:stretch>
        </p:blipFill>
        <p:spPr>
          <a:xfrm>
            <a:off x="6804025" y="-26987"/>
            <a:ext cx="2339975" cy="962025"/>
          </a:xfrm>
          <a:prstGeom prst="rect">
            <a:avLst/>
          </a:prstGeom>
          <a:noFill/>
          <a:ln w="9525">
            <a:noFill/>
          </a:ln>
        </p:spPr>
      </p:pic>
      <p:sp>
        <p:nvSpPr>
          <p:cNvPr id="22532" name="Rectangle 3"/>
          <p:cNvSpPr/>
          <p:nvPr/>
        </p:nvSpPr>
        <p:spPr>
          <a:xfrm>
            <a:off x="3711575" y="269875"/>
            <a:ext cx="1614488"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b="1" dirty="0">
                <a:latin typeface="Times New Roman" panose="02020603050405020304" pitchFamily="18" charset="0"/>
                <a:cs typeface="Times New Roman" panose="02020603050405020304" pitchFamily="18" charset="0"/>
              </a:rPr>
              <a:t>References</a:t>
            </a:r>
            <a:endParaRPr lang="en-IN" altLang="en-US" sz="2400" b="1" dirty="0">
              <a:latin typeface="Times New Roman" panose="02020603050405020304" pitchFamily="18" charset="0"/>
              <a:ea typeface="Times New Roman" panose="02020603050405020304" pitchFamily="18" charset="0"/>
            </a:endParaRPr>
          </a:p>
        </p:txBody>
      </p:sp>
      <p:sp>
        <p:nvSpPr>
          <p:cNvPr id="2" name="Text Box 1"/>
          <p:cNvSpPr txBox="1"/>
          <p:nvPr/>
        </p:nvSpPr>
        <p:spPr>
          <a:xfrm>
            <a:off x="438785" y="883285"/>
            <a:ext cx="8185785" cy="5277485"/>
          </a:xfrm>
          <a:prstGeom prst="rect">
            <a:avLst/>
          </a:prstGeom>
          <a:noFill/>
        </p:spPr>
        <p:txBody>
          <a:bodyPr wrap="square" rtlCol="0" anchor="t">
            <a:noAutofit/>
          </a:bodyPr>
          <a:p>
            <a:r>
              <a:rPr lang="en-IN" altLang="en-US" sz="2000">
                <a:latin typeface="Times New Roman" panose="02020603050405020304" pitchFamily="18" charset="0"/>
                <a:cs typeface="Times New Roman" panose="02020603050405020304" pitchFamily="18" charset="0"/>
                <a:sym typeface="+mn-ea"/>
              </a:rPr>
              <a:t>1. </a:t>
            </a:r>
            <a:r>
              <a:rPr lang="en-US" altLang="en-US" sz="2000">
                <a:latin typeface="Times New Roman" panose="02020603050405020304" pitchFamily="18" charset="0"/>
                <a:cs typeface="Times New Roman" panose="02020603050405020304" pitchFamily="18" charset="0"/>
                <a:sym typeface="+mn-ea"/>
              </a:rPr>
              <a:t>Devlin, J., Chang, M. W., Lee, K., &amp; Toutanova, K. (2019). BERT: Pre-training of deep bidirectional transformers for language understanding. Proceedings of NAACL-HLT.</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IN" altLang="en-US" sz="2000">
                <a:latin typeface="Times New Roman" panose="02020603050405020304" pitchFamily="18" charset="0"/>
                <a:cs typeface="Times New Roman" panose="02020603050405020304" pitchFamily="18" charset="0"/>
                <a:sym typeface="+mn-ea"/>
              </a:rPr>
              <a:t>2. </a:t>
            </a:r>
            <a:r>
              <a:rPr lang="en-US" altLang="en-US" sz="2000">
                <a:latin typeface="Times New Roman" panose="02020603050405020304" pitchFamily="18" charset="0"/>
                <a:cs typeface="Times New Roman" panose="02020603050405020304" pitchFamily="18" charset="0"/>
                <a:sym typeface="+mn-ea"/>
              </a:rPr>
              <a:t>Radford, A., Kim, J. W., Hallacy, C., et al. (2021). Learning transferable visual models from natural language supervision (CLIP). arXiv preprint arXiv:2103.00020.</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IN" altLang="en-US" sz="2000">
                <a:latin typeface="Times New Roman" panose="02020603050405020304" pitchFamily="18" charset="0"/>
                <a:cs typeface="Times New Roman" panose="02020603050405020304" pitchFamily="18" charset="0"/>
                <a:sym typeface="+mn-ea"/>
              </a:rPr>
              <a:t>3. </a:t>
            </a:r>
            <a:r>
              <a:rPr lang="en-US" altLang="en-US" sz="2000">
                <a:latin typeface="Times New Roman" panose="02020603050405020304" pitchFamily="18" charset="0"/>
                <a:cs typeface="Times New Roman" panose="02020603050405020304" pitchFamily="18" charset="0"/>
                <a:sym typeface="+mn-ea"/>
              </a:rPr>
              <a:t>Rejaibi, E., et al. (2022). A deep learning-based approach for detecting mental disorders from social media texts. IEEE Access, 10, 34756–34768.</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IN" altLang="en-US" sz="2000">
                <a:latin typeface="Times New Roman" panose="02020603050405020304" pitchFamily="18" charset="0"/>
                <a:cs typeface="Times New Roman" panose="02020603050405020304" pitchFamily="18" charset="0"/>
                <a:sym typeface="+mn-ea"/>
              </a:rPr>
              <a:t>4. </a:t>
            </a:r>
            <a:r>
              <a:rPr lang="en-US" altLang="en-US" sz="2000">
                <a:latin typeface="Times New Roman" panose="02020603050405020304" pitchFamily="18" charset="0"/>
                <a:cs typeface="Times New Roman" panose="02020603050405020304" pitchFamily="18" charset="0"/>
                <a:sym typeface="+mn-ea"/>
              </a:rPr>
              <a:t>Yang, S., et al. (2020). Deep multimodal representation learning for mental disorder detection. Proceedings of the 28th ACM International Conference on Multimedia (ACM MM).</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IN" altLang="en-US" sz="2000">
                <a:latin typeface="Times New Roman" panose="02020603050405020304" pitchFamily="18" charset="0"/>
                <a:cs typeface="Times New Roman" panose="02020603050405020304" pitchFamily="18" charset="0"/>
                <a:sym typeface="+mn-ea"/>
              </a:rPr>
              <a:t>5. </a:t>
            </a:r>
            <a:r>
              <a:rPr lang="en-US" altLang="en-US" sz="2000">
                <a:latin typeface="Times New Roman" panose="02020603050405020304" pitchFamily="18" charset="0"/>
                <a:cs typeface="Times New Roman" panose="02020603050405020304" pitchFamily="18" charset="0"/>
                <a:sym typeface="+mn-ea"/>
              </a:rPr>
              <a:t>Li, Y., et al. (2023). Contrastive learning for multimodal mental health analysis. Pattern Recognition Letters, 165, 96–104.</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9070" y="196850"/>
            <a:ext cx="8229600" cy="14157960"/>
          </a:xfrm>
        </p:spPr>
        <p:txBody>
          <a:bodyPr/>
          <a:p>
            <a:pPr marL="0" indent="0">
              <a:buNone/>
            </a:pPr>
            <a:r>
              <a:rPr lang="en-IN" altLang="en-US" sz="2000">
                <a:latin typeface="Times New Roman" panose="02020603050405020304" pitchFamily="18" charset="0"/>
                <a:cs typeface="Times New Roman" panose="02020603050405020304" pitchFamily="18" charset="0"/>
                <a:sym typeface="+mn-ea"/>
              </a:rPr>
              <a:t>6. </a:t>
            </a:r>
            <a:r>
              <a:rPr lang="en-US" altLang="en-US" sz="2000">
                <a:latin typeface="Times New Roman" panose="02020603050405020304" pitchFamily="18" charset="0"/>
                <a:cs typeface="Times New Roman" panose="02020603050405020304" pitchFamily="18" charset="0"/>
                <a:sym typeface="+mn-ea"/>
              </a:rPr>
              <a:t>Kingma, D. P., &amp; Ba, J. (2015). Adam: A method for stochastic optimization. International Conference on Learning Representations (ICLR).</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7. </a:t>
            </a:r>
            <a:r>
              <a:rPr lang="en-US" altLang="en-US" sz="2000">
                <a:latin typeface="Times New Roman" panose="02020603050405020304" pitchFamily="18" charset="0"/>
                <a:cs typeface="Times New Roman" panose="02020603050405020304" pitchFamily="18" charset="0"/>
                <a:sym typeface="+mn-ea"/>
              </a:rPr>
              <a:t>Mikolov, T., Sutskever, I., Chen, K., Corrado, G. S., &amp; Dean, J. (2013). Distributed representations of words and phrases and their compositionality. Advances in Neural Information Processing Systems (NeurIPS).</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8. </a:t>
            </a:r>
            <a:r>
              <a:rPr lang="en-US" altLang="en-US" sz="2000">
                <a:latin typeface="Times New Roman" panose="02020603050405020304" pitchFamily="18" charset="0"/>
                <a:cs typeface="Times New Roman" panose="02020603050405020304" pitchFamily="18" charset="0"/>
                <a:sym typeface="+mn-ea"/>
              </a:rPr>
              <a:t>Tadesse, M. M., Lin, H., Xu, B., &amp; Yang, L. (2019). Detection of depression-related posts in Reddit social media forum. IEEE Access, 7, 44883–44893.</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9. </a:t>
            </a:r>
            <a:r>
              <a:rPr lang="en-US" altLang="en-US" sz="2000">
                <a:latin typeface="Times New Roman" panose="02020603050405020304" pitchFamily="18" charset="0"/>
                <a:cs typeface="Times New Roman" panose="02020603050405020304" pitchFamily="18" charset="0"/>
                <a:sym typeface="+mn-ea"/>
              </a:rPr>
              <a:t>Wang, Y., et al. (2022). Multimodal deep learning for mental health prediction: A systematic review. Journal of Biomedical Informatics, 130, 104062.</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10. </a:t>
            </a:r>
            <a:r>
              <a:rPr lang="en-US" altLang="en-US" sz="2000">
                <a:latin typeface="Times New Roman" panose="02020603050405020304" pitchFamily="18" charset="0"/>
                <a:cs typeface="Times New Roman" panose="02020603050405020304" pitchFamily="18" charset="0"/>
                <a:sym typeface="+mn-ea"/>
              </a:rPr>
              <a:t>OpenAI. (2023). Contrastive learning and representation techniques for emotion and mental health detection. </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6166</Words>
  <Application>WPS Presentation</Application>
  <PresentationFormat>On-screen Show (4:3)</PresentationFormat>
  <Paragraphs>206</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18</vt:i4>
      </vt:variant>
    </vt:vector>
  </HeadingPairs>
  <TitlesOfParts>
    <vt:vector size="28" baseType="lpstr">
      <vt:lpstr>Arial</vt:lpstr>
      <vt:lpstr>SimSun</vt:lpstr>
      <vt:lpstr>Wingdings</vt:lpstr>
      <vt:lpstr>Calibri</vt:lpstr>
      <vt:lpstr>Times New Roman</vt:lpstr>
      <vt:lpstr>Microsoft YaHei</vt:lpstr>
      <vt:lpstr>Arial Unicode MS</vt:lpstr>
      <vt:lpstr>Office Theme</vt:lpstr>
      <vt:lpstr>1_Office Theme</vt:lpstr>
      <vt:lpstr>2_Office Theme</vt:lpstr>
      <vt:lpstr>Capstone Project – Final:  Review – 1 on DISCOVERING MENTAL DISORDERS AND LEVERAGING CONTRASTIVE LEARNING</vt:lpstr>
      <vt:lpstr>CONTENTS</vt:lpstr>
      <vt:lpstr>Problem Statement</vt:lpstr>
      <vt:lpstr>Objectives</vt:lpstr>
      <vt:lpstr>Design Strategy</vt:lpstr>
      <vt:lpstr>Feedback from Guide/Reviewers and actions taken after Review–2</vt:lpstr>
      <vt:lpstr>CONTENTS</vt:lpstr>
      <vt:lpstr>Methodology</vt:lpstr>
      <vt:lpstr>Algorithm (s)</vt:lpstr>
      <vt:lpstr>CONTENTS</vt:lpstr>
      <vt:lpstr>Status of Implementation</vt:lpstr>
      <vt:lpstr>Status of Implementation</vt:lpstr>
      <vt:lpstr>PowerPoint 演示文稿</vt:lpstr>
      <vt:lpstr>CONTENTS</vt:lpstr>
      <vt:lpstr>Conclusion</vt:lpstr>
      <vt:lpstr>CONTENTS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Vusthikayala Sheela Madhuri 22</cp:lastModifiedBy>
  <cp:revision>39</cp:revision>
  <dcterms:created xsi:type="dcterms:W3CDTF">2024-09-06T03:49:00Z</dcterms:created>
  <dcterms:modified xsi:type="dcterms:W3CDTF">2026-01-20T02:35:40Z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3DF07B65271C48FA9AE78D111E2B5164_13</vt:lpwstr>
  </property>
  <property fmtid="{D5CDD505-2E9C-101B-9397-08002B2CF9AE}" pid="3" name="KSOProductBuildVer">
    <vt:lpwstr>1033-12.2.0.23196</vt:lpwstr>
  </property>
</Properties>
</file>